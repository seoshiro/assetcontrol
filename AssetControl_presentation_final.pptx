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notesMasterIdLst>
    <p:notesMasterId r:id="rId4"/>
  </p:notesMasterIdLst>
  <p:sldIdLst>
    <p:sldId id="256" r:id="rId3"/>
    <p:sldId id="257" r:id="rId5"/>
    <p:sldId id="258" r:id="rId6"/>
    <p:sldId id="259" r:id="rId7"/>
    <p:sldId id="260" r:id="rId8"/>
    <p:sldId id="261" r:id="rId9"/>
    <p:sldId id="262" r:id="rId10"/>
    <p:sldId id="263" r:id="rId11"/>
    <p:sldId id="264" r:id="rId12"/>
    <p:sldId id="265" r:id="rId13"/>
    <p:sldId id="266" r:id="rId14"/>
    <p:sldId id="267" r:id="rId15"/>
  </p:sldIdLst>
  <p:sldSz cx="12191365" cy="6858000"/>
  <p:notesSz cx="6858000" cy="1219136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6.xml"/><Relationship Id="rId8" Type="http://schemas.openxmlformats.org/officeDocument/2006/relationships/slide" Target="slides/slide5.xml"/><Relationship Id="rId7" Type="http://schemas.openxmlformats.org/officeDocument/2006/relationships/slide" Target="slides/slide4.xml"/><Relationship Id="rId6" Type="http://schemas.openxmlformats.org/officeDocument/2006/relationships/slide" Target="slides/slide3.xml"/><Relationship Id="rId5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8" Type="http://schemas.openxmlformats.org/officeDocument/2006/relationships/tableStyles" Target="tableStyles.xml"/><Relationship Id="rId17" Type="http://schemas.openxmlformats.org/officeDocument/2006/relationships/viewProps" Target="viewProps.xml"/><Relationship Id="rId16" Type="http://schemas.openxmlformats.org/officeDocument/2006/relationships/presProps" Target="presProps.xml"/><Relationship Id="rId15" Type="http://schemas.openxmlformats.org/officeDocument/2006/relationships/slide" Target="slides/slide12.xml"/><Relationship Id="rId14" Type="http://schemas.openxmlformats.org/officeDocument/2006/relationships/slide" Target="slides/slide11.xml"/><Relationship Id="rId13" Type="http://schemas.openxmlformats.org/officeDocument/2006/relationships/slide" Target="slides/slide10.xml"/><Relationship Id="rId12" Type="http://schemas.openxmlformats.org/officeDocument/2006/relationships/slide" Target="slides/slide9.xml"/><Relationship Id="rId11" Type="http://schemas.openxmlformats.org/officeDocument/2006/relationships/slide" Target="slides/slide8.xml"/><Relationship Id="rId10" Type="http://schemas.openxmlformats.org/officeDocument/2006/relationships/slide" Target="slides/slide7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8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9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0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2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.pn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3.xml"/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3.png"/><Relationship Id="rId1" Type="http://schemas.openxmlformats.org/officeDocument/2006/relationships/image" Target="../media/image2.pn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5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.png"/></Relationships>
</file>

<file path=ppt/slides/_rels/slide6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6.xml"/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5.png"/><Relationship Id="rId1" Type="http://schemas.openxmlformats.org/officeDocument/2006/relationships/image" Target="../media/image4.png"/></Relationships>
</file>

<file path=ppt/slides/_rels/slide7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7.xml"/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7.png"/><Relationship Id="rId1" Type="http://schemas.openxmlformats.org/officeDocument/2006/relationships/image" Target="../media/image6.png"/></Relationships>
</file>

<file path=ppt/slides/_rels/slide8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8.xml"/><Relationship Id="rId4" Type="http://schemas.openxmlformats.org/officeDocument/2006/relationships/slideLayout" Target="../slideLayouts/slideLayout1.xml"/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image" Target="../media/image8.png"/></Relationships>
</file>

<file path=ppt/slides/_rels/slide9.xml.rels><?xml version="1.0" encoding="UTF-8" standalone="yes"?>
<Relationships xmlns="http://schemas.openxmlformats.org/package/2006/relationships"><Relationship Id="rId9" Type="http://schemas.openxmlformats.org/officeDocument/2006/relationships/tags" Target="../tags/tag9.xml"/><Relationship Id="rId8" Type="http://schemas.openxmlformats.org/officeDocument/2006/relationships/tags" Target="../tags/tag8.xml"/><Relationship Id="rId7" Type="http://schemas.openxmlformats.org/officeDocument/2006/relationships/tags" Target="../tags/tag7.xml"/><Relationship Id="rId6" Type="http://schemas.openxmlformats.org/officeDocument/2006/relationships/tags" Target="../tags/tag6.xml"/><Relationship Id="rId5" Type="http://schemas.openxmlformats.org/officeDocument/2006/relationships/tags" Target="../tags/tag5.xml"/><Relationship Id="rId4" Type="http://schemas.openxmlformats.org/officeDocument/2006/relationships/tags" Target="../tags/tag4.xml"/><Relationship Id="rId3" Type="http://schemas.openxmlformats.org/officeDocument/2006/relationships/tags" Target="../tags/tag3.xml"/><Relationship Id="rId2" Type="http://schemas.openxmlformats.org/officeDocument/2006/relationships/tags" Target="../tags/tag2.xml"/><Relationship Id="rId19" Type="http://schemas.openxmlformats.org/officeDocument/2006/relationships/notesSlide" Target="../notesSlides/notesSlide9.xml"/><Relationship Id="rId18" Type="http://schemas.openxmlformats.org/officeDocument/2006/relationships/slideLayout" Target="../slideLayouts/slideLayout1.xml"/><Relationship Id="rId17" Type="http://schemas.openxmlformats.org/officeDocument/2006/relationships/image" Target="../media/image12.png"/><Relationship Id="rId16" Type="http://schemas.openxmlformats.org/officeDocument/2006/relationships/image" Target="../media/image11.png"/><Relationship Id="rId15" Type="http://schemas.openxmlformats.org/officeDocument/2006/relationships/tags" Target="../tags/tag15.xml"/><Relationship Id="rId14" Type="http://schemas.openxmlformats.org/officeDocument/2006/relationships/tags" Target="../tags/tag14.xml"/><Relationship Id="rId13" Type="http://schemas.openxmlformats.org/officeDocument/2006/relationships/tags" Target="../tags/tag13.xml"/><Relationship Id="rId12" Type="http://schemas.openxmlformats.org/officeDocument/2006/relationships/tags" Target="../tags/tag12.xml"/><Relationship Id="rId11" Type="http://schemas.openxmlformats.org/officeDocument/2006/relationships/tags" Target="../tags/tag11.xml"/><Relationship Id="rId10" Type="http://schemas.openxmlformats.org/officeDocument/2006/relationships/tags" Target="../tags/tag10.xml"/><Relationship Id="rId1" Type="http://schemas.openxmlformats.org/officeDocument/2006/relationships/tags" Target="../tags/tag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11.xml"/><Relationship Id="rId4" Type="http://schemas.openxmlformats.org/officeDocument/2006/relationships/slideLayout" Target="../slideLayouts/slideLayout1.xml"/><Relationship Id="rId3" Type="http://schemas.openxmlformats.org/officeDocument/2006/relationships/image" Target="../media/image12.png"/><Relationship Id="rId2" Type="http://schemas.openxmlformats.org/officeDocument/2006/relationships/image" Target="../media/image2.png"/><Relationship Id="rId1" Type="http://schemas.openxmlformats.org/officeDocument/2006/relationships/image" Target="../media/image3.png"/></Relationships>
</file>

<file path=ppt/slides/_rels/slide12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12.xml"/><Relationship Id="rId4" Type="http://schemas.openxmlformats.org/officeDocument/2006/relationships/slideLayout" Target="../slideLayouts/slideLayout1.xml"/><Relationship Id="rId3" Type="http://schemas.openxmlformats.org/officeDocument/2006/relationships/image" Target="../media/image2.png"/><Relationship Id="rId2" Type="http://schemas.openxmlformats.org/officeDocument/2006/relationships/image" Target="../media/image12.png"/><Relationship Id="rId1" Type="http://schemas.openxmlformats.org/officeDocument/2006/relationships/image" Target="../media/image1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3E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228600" y="182880"/>
            <a:ext cx="11734495" cy="6492240"/>
          </a:xfrm>
          <a:prstGeom prst="roundRect">
            <a:avLst>
              <a:gd name="adj" fmla="val 704"/>
            </a:avLst>
          </a:prstGeom>
          <a:solidFill>
            <a:srgbClr val="F7F3EC">
              <a:alpha val="0"/>
            </a:srgbClr>
          </a:solidFill>
          <a:ln w="9525">
            <a:solidFill>
              <a:srgbClr val="D9D1C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1533327" y="384048"/>
            <a:ext cx="329184" cy="1828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50" dirty="0">
                <a:solidFill>
                  <a:srgbClr val="11264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01</a:t>
            </a:r>
            <a:endParaRPr lang="en-US" sz="1050" dirty="0"/>
          </a:p>
        </p:txBody>
      </p:sp>
      <p:sp>
        <p:nvSpPr>
          <p:cNvPr id="4" name="Text 2"/>
          <p:cNvSpPr/>
          <p:nvPr/>
        </p:nvSpPr>
        <p:spPr>
          <a:xfrm>
            <a:off x="548640" y="548640"/>
            <a:ext cx="3840480" cy="201168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850" b="1" dirty="0">
                <a:solidFill>
                  <a:srgbClr val="7A726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ASSETCONTROL WORKSPACE</a:t>
            </a:r>
            <a:endParaRPr lang="en-US" sz="850" dirty="0"/>
          </a:p>
        </p:txBody>
      </p:sp>
      <p:sp>
        <p:nvSpPr>
          <p:cNvPr id="5" name="Text 3"/>
          <p:cNvSpPr/>
          <p:nvPr/>
        </p:nvSpPr>
        <p:spPr>
          <a:xfrm>
            <a:off x="548640" y="960120"/>
            <a:ext cx="5166360" cy="2084832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3400" b="1" dirty="0">
                <a:solidFill>
                  <a:srgbClr val="112642"/>
                </a:solidFill>
                <a:latin typeface="Georgia" panose="02040502050405020303" pitchFamily="34" charset="0"/>
                <a:ea typeface="Georgia" panose="02040502050405020303" pitchFamily="34" charset="-122"/>
                <a:cs typeface="Georgia" panose="02040502050405020303" pitchFamily="34" charset="-120"/>
              </a:rPr>
              <a:t>Где сейчас находится</a:t>
            </a:r>
            <a:endParaRPr lang="en-US" sz="3400" dirty="0"/>
          </a:p>
          <a:p>
            <a:pPr marL="0" indent="0" algn="l">
              <a:buNone/>
            </a:pPr>
            <a:r>
              <a:rPr lang="en-US" sz="3400" b="1" dirty="0">
                <a:solidFill>
                  <a:srgbClr val="112642"/>
                </a:solidFill>
                <a:latin typeface="Georgia" panose="02040502050405020303" pitchFamily="34" charset="0"/>
                <a:ea typeface="Georgia" panose="02040502050405020303" pitchFamily="34" charset="-122"/>
                <a:cs typeface="Georgia" panose="02040502050405020303" pitchFamily="34" charset="-120"/>
              </a:rPr>
              <a:t>каждый актив</a:t>
            </a:r>
            <a:endParaRPr lang="en-US" sz="3400" dirty="0"/>
          </a:p>
          <a:p>
            <a:pPr marL="0" indent="0" algn="l">
              <a:buNone/>
            </a:pPr>
            <a:r>
              <a:rPr lang="en-US" sz="3400" b="1" dirty="0">
                <a:solidFill>
                  <a:srgbClr val="112642"/>
                </a:solidFill>
                <a:latin typeface="Georgia" panose="02040502050405020303" pitchFamily="34" charset="0"/>
                <a:ea typeface="Georgia" panose="02040502050405020303" pitchFamily="34" charset="-122"/>
                <a:cs typeface="Georgia" panose="02040502050405020303" pitchFamily="34" charset="-120"/>
              </a:rPr>
              <a:t>предприятия?</a:t>
            </a:r>
            <a:endParaRPr lang="en-US" sz="3400" dirty="0"/>
          </a:p>
        </p:txBody>
      </p:sp>
      <p:sp>
        <p:nvSpPr>
          <p:cNvPr id="6" name="Shape 4"/>
          <p:cNvSpPr/>
          <p:nvPr/>
        </p:nvSpPr>
        <p:spPr>
          <a:xfrm>
            <a:off x="548640" y="3099816"/>
            <a:ext cx="457200" cy="22860"/>
          </a:xfrm>
          <a:prstGeom prst="rect">
            <a:avLst/>
          </a:prstGeom>
          <a:solidFill>
            <a:srgbClr val="112642"/>
          </a:solidFill>
          <a:ln w="12700">
            <a:solidFill>
              <a:srgbClr val="112642">
                <a:alpha val="0"/>
              </a:srgbClr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48640" y="3419856"/>
            <a:ext cx="4892040" cy="457200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520" dirty="0">
                <a:solidFill>
                  <a:srgbClr val="111827"/>
                </a:solidFill>
                <a:latin typeface="Georgia" panose="02040502050405020303" pitchFamily="34" charset="0"/>
                <a:ea typeface="Georgia" panose="02040502050405020303" pitchFamily="34" charset="-122"/>
                <a:cs typeface="Georgia" panose="02040502050405020303" pitchFamily="34" charset="-120"/>
              </a:rPr>
              <a:t>AssetControl — автоматизированная система учёта и контроля оборудования предприятия</a:t>
            </a:r>
            <a:endParaRPr lang="en-US" sz="1520" dirty="0"/>
          </a:p>
        </p:txBody>
      </p:sp>
      <p:sp>
        <p:nvSpPr>
          <p:cNvPr id="8" name="Text 6"/>
          <p:cNvSpPr/>
          <p:nvPr/>
        </p:nvSpPr>
        <p:spPr>
          <a:xfrm>
            <a:off x="548640" y="4160520"/>
            <a:ext cx="4526280" cy="685800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140" dirty="0">
                <a:solidFill>
                  <a:srgbClr val="5B5F5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От хаоса Excel и бумажных журналов — к единой системе, где видно: что есть в компании, где находится оборудование, кому оно выдано, что в ремонте и какие действия были выполнены.</a:t>
            </a:r>
            <a:endParaRPr lang="en-US" sz="1140" dirty="0"/>
          </a:p>
        </p:txBody>
      </p:sp>
      <p:sp>
        <p:nvSpPr>
          <p:cNvPr id="9" name="Shape 7"/>
          <p:cNvSpPr/>
          <p:nvPr/>
        </p:nvSpPr>
        <p:spPr>
          <a:xfrm>
            <a:off x="548640" y="5742432"/>
            <a:ext cx="4526280" cy="438912"/>
          </a:xfrm>
          <a:prstGeom prst="roundRect">
            <a:avLst>
              <a:gd name="adj" fmla="val 11458"/>
            </a:avLst>
          </a:prstGeom>
          <a:solidFill>
            <a:srgbClr val="FAF7EF"/>
          </a:solidFill>
          <a:ln w="9525">
            <a:solidFill>
              <a:srgbClr val="D9D1C3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713232" y="5833872"/>
            <a:ext cx="292608" cy="256032"/>
          </a:xfrm>
          <a:prstGeom prst="roundRect">
            <a:avLst>
              <a:gd name="adj" fmla="val 21429"/>
            </a:avLst>
          </a:prstGeom>
          <a:solidFill>
            <a:srgbClr val="112642"/>
          </a:solidFill>
          <a:ln w="7620">
            <a:solidFill>
              <a:srgbClr val="112642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713232" y="5907024"/>
            <a:ext cx="292608" cy="109728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AC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1097280" y="5879592"/>
            <a:ext cx="3749040" cy="91440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970" dirty="0">
                <a:solidFill>
                  <a:srgbClr val="5B5F5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Дипломный проект · учёт и контроль оборудования предприятия</a:t>
            </a:r>
            <a:endParaRPr lang="en-US" sz="970" dirty="0"/>
          </a:p>
        </p:txBody>
      </p:sp>
      <p:sp>
        <p:nvSpPr>
          <p:cNvPr id="13" name="Shape 11"/>
          <p:cNvSpPr/>
          <p:nvPr/>
        </p:nvSpPr>
        <p:spPr>
          <a:xfrm>
            <a:off x="5806440" y="640080"/>
            <a:ext cx="5806440" cy="4617720"/>
          </a:xfrm>
          <a:prstGeom prst="roundRect">
            <a:avLst>
              <a:gd name="adj" fmla="val 1089"/>
            </a:avLst>
          </a:prstGeom>
          <a:solidFill>
            <a:srgbClr val="FCFAF5"/>
          </a:solidFill>
          <a:ln w="9525">
            <a:solidFill>
              <a:srgbClr val="D9D1C3"/>
            </a:solidFill>
            <a:prstDash val="solid"/>
          </a:ln>
          <a:effectLst>
            <a:outerShdw blurRad="25400" dist="50800" dir="2700000" algn="bl" rotWithShape="0">
              <a:srgbClr val="C8BFAF">
                <a:alpha val="13000"/>
              </a:srgbClr>
            </a:outerShdw>
          </a:effectLst>
        </p:spPr>
      </p:sp>
      <p:pic>
        <p:nvPicPr>
          <p:cNvPr id="14" name="Image 0" descr="/mnt/data/01-dashboard(1)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613300" y="704088"/>
            <a:ext cx="4192720" cy="4489704"/>
          </a:xfrm>
          <a:prstGeom prst="rect">
            <a:avLst/>
          </a:prstGeom>
        </p:spPr>
      </p:pic>
      <p:sp>
        <p:nvSpPr>
          <p:cNvPr id="15" name="Shape 12"/>
          <p:cNvSpPr/>
          <p:nvPr/>
        </p:nvSpPr>
        <p:spPr>
          <a:xfrm>
            <a:off x="6035040" y="5532120"/>
            <a:ext cx="1234440" cy="640080"/>
          </a:xfrm>
          <a:prstGeom prst="roundRect">
            <a:avLst>
              <a:gd name="adj" fmla="val 7857"/>
            </a:avLst>
          </a:prstGeom>
          <a:solidFill>
            <a:srgbClr val="FCFAF5"/>
          </a:solidFill>
          <a:ln w="9525">
            <a:solidFill>
              <a:srgbClr val="D9D1C3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6163056" y="5650992"/>
            <a:ext cx="978408" cy="137160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720" b="1" dirty="0">
                <a:solidFill>
                  <a:srgbClr val="7A726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АКТИВЫ</a:t>
            </a:r>
            <a:endParaRPr lang="en-US" sz="720" dirty="0"/>
          </a:p>
        </p:txBody>
      </p:sp>
      <p:sp>
        <p:nvSpPr>
          <p:cNvPr id="17" name="Text 14"/>
          <p:cNvSpPr/>
          <p:nvPr/>
        </p:nvSpPr>
        <p:spPr>
          <a:xfrm>
            <a:off x="6163056" y="5870448"/>
            <a:ext cx="978408" cy="164592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111827"/>
                </a:solidFill>
                <a:latin typeface="Georgia" panose="02040502050405020303" pitchFamily="34" charset="0"/>
                <a:ea typeface="Georgia" panose="02040502050405020303" pitchFamily="34" charset="-122"/>
                <a:cs typeface="Georgia" panose="02040502050405020303" pitchFamily="34" charset="-120"/>
              </a:rPr>
              <a:t>36</a:t>
            </a:r>
            <a:endParaRPr lang="en-US" sz="1500" dirty="0"/>
          </a:p>
        </p:txBody>
      </p:sp>
      <p:sp>
        <p:nvSpPr>
          <p:cNvPr id="18" name="Shape 15"/>
          <p:cNvSpPr/>
          <p:nvPr/>
        </p:nvSpPr>
        <p:spPr>
          <a:xfrm>
            <a:off x="7452360" y="5532120"/>
            <a:ext cx="1234440" cy="640080"/>
          </a:xfrm>
          <a:prstGeom prst="roundRect">
            <a:avLst>
              <a:gd name="adj" fmla="val 7857"/>
            </a:avLst>
          </a:prstGeom>
          <a:solidFill>
            <a:srgbClr val="E9F3EC"/>
          </a:solidFill>
          <a:ln w="9525">
            <a:solidFill>
              <a:srgbClr val="D9D1C3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7580376" y="5650992"/>
            <a:ext cx="978408" cy="137160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720" b="1" dirty="0">
                <a:solidFill>
                  <a:srgbClr val="7A726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ДОСТУПНО</a:t>
            </a:r>
            <a:endParaRPr lang="en-US" sz="720" dirty="0"/>
          </a:p>
        </p:txBody>
      </p:sp>
      <p:sp>
        <p:nvSpPr>
          <p:cNvPr id="20" name="Text 17"/>
          <p:cNvSpPr/>
          <p:nvPr/>
        </p:nvSpPr>
        <p:spPr>
          <a:xfrm>
            <a:off x="7580376" y="5870448"/>
            <a:ext cx="978408" cy="164592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111827"/>
                </a:solidFill>
                <a:latin typeface="Georgia" panose="02040502050405020303" pitchFamily="34" charset="0"/>
                <a:ea typeface="Georgia" panose="02040502050405020303" pitchFamily="34" charset="-122"/>
                <a:cs typeface="Georgia" panose="02040502050405020303" pitchFamily="34" charset="-120"/>
              </a:rPr>
              <a:t>14</a:t>
            </a:r>
            <a:endParaRPr lang="en-US" sz="1500" dirty="0"/>
          </a:p>
        </p:txBody>
      </p:sp>
      <p:sp>
        <p:nvSpPr>
          <p:cNvPr id="21" name="Shape 18"/>
          <p:cNvSpPr/>
          <p:nvPr/>
        </p:nvSpPr>
        <p:spPr>
          <a:xfrm>
            <a:off x="8869680" y="5532120"/>
            <a:ext cx="1234440" cy="640080"/>
          </a:xfrm>
          <a:prstGeom prst="roundRect">
            <a:avLst>
              <a:gd name="adj" fmla="val 7857"/>
            </a:avLst>
          </a:prstGeom>
          <a:solidFill>
            <a:srgbClr val="F0EAF6"/>
          </a:solidFill>
          <a:ln w="9525">
            <a:solidFill>
              <a:srgbClr val="D9D1C3"/>
            </a:solidFill>
            <a:prstDash val="solid"/>
          </a:ln>
        </p:spPr>
      </p:sp>
      <p:sp>
        <p:nvSpPr>
          <p:cNvPr id="22" name="Text 19"/>
          <p:cNvSpPr/>
          <p:nvPr/>
        </p:nvSpPr>
        <p:spPr>
          <a:xfrm>
            <a:off x="8997696" y="5650992"/>
            <a:ext cx="978408" cy="137160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720" b="1" dirty="0">
                <a:solidFill>
                  <a:srgbClr val="7A726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В РЕМОНТЕ</a:t>
            </a:r>
            <a:endParaRPr lang="en-US" sz="720" dirty="0"/>
          </a:p>
        </p:txBody>
      </p:sp>
      <p:sp>
        <p:nvSpPr>
          <p:cNvPr id="23" name="Text 20"/>
          <p:cNvSpPr/>
          <p:nvPr/>
        </p:nvSpPr>
        <p:spPr>
          <a:xfrm>
            <a:off x="8997696" y="5870448"/>
            <a:ext cx="978408" cy="164592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111827"/>
                </a:solidFill>
                <a:latin typeface="Georgia" panose="02040502050405020303" pitchFamily="34" charset="0"/>
                <a:ea typeface="Georgia" panose="02040502050405020303" pitchFamily="34" charset="-122"/>
                <a:cs typeface="Georgia" panose="02040502050405020303" pitchFamily="34" charset="-120"/>
              </a:rPr>
              <a:t>3</a:t>
            </a:r>
            <a:endParaRPr lang="en-US" sz="1500" dirty="0"/>
          </a:p>
        </p:txBody>
      </p:sp>
      <p:sp>
        <p:nvSpPr>
          <p:cNvPr id="24" name="Shape 21"/>
          <p:cNvSpPr/>
          <p:nvPr/>
        </p:nvSpPr>
        <p:spPr>
          <a:xfrm>
            <a:off x="10287000" y="5532120"/>
            <a:ext cx="1143000" cy="640080"/>
          </a:xfrm>
          <a:prstGeom prst="roundRect">
            <a:avLst>
              <a:gd name="adj" fmla="val 7857"/>
            </a:avLst>
          </a:prstGeom>
          <a:solidFill>
            <a:srgbClr val="F5E7E7"/>
          </a:solidFill>
          <a:ln w="9525">
            <a:solidFill>
              <a:srgbClr val="D9D1C3"/>
            </a:solidFill>
            <a:prstDash val="solid"/>
          </a:ln>
        </p:spPr>
      </p:sp>
      <p:sp>
        <p:nvSpPr>
          <p:cNvPr id="25" name="Text 22"/>
          <p:cNvSpPr/>
          <p:nvPr/>
        </p:nvSpPr>
        <p:spPr>
          <a:xfrm>
            <a:off x="10415016" y="5650992"/>
            <a:ext cx="886968" cy="137160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720" b="1" dirty="0">
                <a:solidFill>
                  <a:srgbClr val="7A726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ПРОСРОЧЕНО</a:t>
            </a:r>
            <a:endParaRPr lang="en-US" sz="720" dirty="0"/>
          </a:p>
        </p:txBody>
      </p:sp>
      <p:sp>
        <p:nvSpPr>
          <p:cNvPr id="26" name="Text 23"/>
          <p:cNvSpPr/>
          <p:nvPr/>
        </p:nvSpPr>
        <p:spPr>
          <a:xfrm>
            <a:off x="10415016" y="5870448"/>
            <a:ext cx="886968" cy="164592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111827"/>
                </a:solidFill>
                <a:latin typeface="Georgia" panose="02040502050405020303" pitchFamily="34" charset="0"/>
                <a:ea typeface="Georgia" panose="02040502050405020303" pitchFamily="34" charset="-122"/>
                <a:cs typeface="Georgia" panose="02040502050405020303" pitchFamily="34" charset="-120"/>
              </a:rPr>
              <a:t>3</a:t>
            </a:r>
            <a:endParaRPr lang="en-US" sz="15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3E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228600" y="182880"/>
            <a:ext cx="11734495" cy="6492240"/>
          </a:xfrm>
          <a:prstGeom prst="roundRect">
            <a:avLst>
              <a:gd name="adj" fmla="val 704"/>
            </a:avLst>
          </a:prstGeom>
          <a:solidFill>
            <a:srgbClr val="F7F3EC">
              <a:alpha val="0"/>
            </a:srgbClr>
          </a:solidFill>
          <a:ln w="9525">
            <a:solidFill>
              <a:srgbClr val="D9D1C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1533327" y="384048"/>
            <a:ext cx="329184" cy="1828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50" dirty="0">
                <a:solidFill>
                  <a:srgbClr val="11264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02</a:t>
            </a:r>
            <a:endParaRPr lang="en-US" sz="1050" dirty="0"/>
          </a:p>
        </p:txBody>
      </p:sp>
      <p:sp>
        <p:nvSpPr>
          <p:cNvPr id="4" name="Text 2"/>
          <p:cNvSpPr/>
          <p:nvPr/>
        </p:nvSpPr>
        <p:spPr>
          <a:xfrm>
            <a:off x="530352" y="566928"/>
            <a:ext cx="3657600" cy="201168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850" b="1" dirty="0">
                <a:solidFill>
                  <a:srgbClr val="7A726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ПРОБЛЕМА И ЦЕЛЬ</a:t>
            </a:r>
            <a:endParaRPr lang="en-US" sz="850" dirty="0"/>
          </a:p>
        </p:txBody>
      </p:sp>
      <p:sp>
        <p:nvSpPr>
          <p:cNvPr id="5" name="Text 3"/>
          <p:cNvSpPr/>
          <p:nvPr/>
        </p:nvSpPr>
        <p:spPr>
          <a:xfrm>
            <a:off x="530352" y="960120"/>
            <a:ext cx="3840480" cy="621792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3200" b="1" dirty="0">
                <a:solidFill>
                  <a:srgbClr val="112642"/>
                </a:solidFill>
                <a:latin typeface="Georgia" panose="02040502050405020303" pitchFamily="34" charset="0"/>
                <a:ea typeface="Georgia" panose="02040502050405020303" pitchFamily="34" charset="-122"/>
                <a:cs typeface="Georgia" panose="02040502050405020303" pitchFamily="34" charset="-120"/>
              </a:rPr>
              <a:t>Почему этот проект нужен</a:t>
            </a:r>
            <a:endParaRPr lang="en-US" sz="3200" dirty="0"/>
          </a:p>
        </p:txBody>
      </p:sp>
      <p:sp>
        <p:nvSpPr>
          <p:cNvPr id="6" name="Shape 4"/>
          <p:cNvSpPr/>
          <p:nvPr/>
        </p:nvSpPr>
        <p:spPr>
          <a:xfrm>
            <a:off x="530352" y="1636776"/>
            <a:ext cx="457200" cy="22860"/>
          </a:xfrm>
          <a:prstGeom prst="rect">
            <a:avLst/>
          </a:prstGeom>
          <a:solidFill>
            <a:srgbClr val="112642"/>
          </a:solidFill>
          <a:ln w="12700">
            <a:solidFill>
              <a:srgbClr val="112642">
                <a:alpha val="0"/>
              </a:srgbClr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48640" y="1874520"/>
            <a:ext cx="3886200" cy="640080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500" dirty="0">
                <a:solidFill>
                  <a:srgbClr val="111827"/>
                </a:solidFill>
                <a:latin typeface="Georgia" panose="02040502050405020303" pitchFamily="34" charset="0"/>
                <a:ea typeface="Georgia" panose="02040502050405020303" pitchFamily="34" charset="-122"/>
                <a:cs typeface="Georgia" panose="02040502050405020303" pitchFamily="34" charset="-120"/>
              </a:rPr>
              <a:t>На предприятиях учёт оборудования часто ведётся в Excel, бумажных журналах или разрозненных файлах.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4709160" y="960120"/>
            <a:ext cx="2057400" cy="2788920"/>
          </a:xfrm>
          <a:prstGeom prst="roundRect">
            <a:avLst>
              <a:gd name="adj" fmla="val 2444"/>
            </a:avLst>
          </a:prstGeom>
          <a:solidFill>
            <a:srgbClr val="FCFAF5"/>
          </a:solidFill>
          <a:ln w="9525">
            <a:solidFill>
              <a:srgbClr val="D9D1C3"/>
            </a:solidFill>
            <a:prstDash val="solid"/>
          </a:ln>
          <a:effectLst>
            <a:outerShdw blurRad="25400" dist="50800" dir="2700000" algn="bl" rotWithShape="0">
              <a:srgbClr val="C8BFAF">
                <a:alpha val="13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4873752" y="1124712"/>
            <a:ext cx="274320" cy="274320"/>
          </a:xfrm>
          <a:prstGeom prst="ellipse">
            <a:avLst/>
          </a:prstGeom>
          <a:solidFill>
            <a:srgbClr val="112642"/>
          </a:solidFill>
          <a:ln w="12700">
            <a:solidFill>
              <a:srgbClr val="112642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873752" y="1193292"/>
            <a:ext cx="274320" cy="91440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01</a:t>
            </a:r>
            <a:endParaRPr lang="en-US" sz="750" dirty="0"/>
          </a:p>
        </p:txBody>
      </p:sp>
      <p:sp>
        <p:nvSpPr>
          <p:cNvPr id="11" name="Shape 9"/>
          <p:cNvSpPr/>
          <p:nvPr/>
        </p:nvSpPr>
        <p:spPr>
          <a:xfrm>
            <a:off x="5129784" y="1645920"/>
            <a:ext cx="512064" cy="457200"/>
          </a:xfrm>
          <a:prstGeom prst="roundRect">
            <a:avLst>
              <a:gd name="adj" fmla="val 12000"/>
            </a:avLst>
          </a:prstGeom>
          <a:solidFill>
            <a:srgbClr val="F7F3EC"/>
          </a:solidFill>
          <a:ln w="7620">
            <a:solidFill>
              <a:srgbClr val="C7BFAF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129784" y="1801368"/>
            <a:ext cx="512064" cy="109728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11264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DB</a:t>
            </a:r>
            <a:endParaRPr lang="en-US" sz="1050" dirty="0"/>
          </a:p>
        </p:txBody>
      </p:sp>
      <p:sp>
        <p:nvSpPr>
          <p:cNvPr id="13" name="Text 11"/>
          <p:cNvSpPr/>
          <p:nvPr/>
        </p:nvSpPr>
        <p:spPr>
          <a:xfrm>
            <a:off x="4892040" y="2331720"/>
            <a:ext cx="1755648" cy="365760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380" b="1" dirty="0">
                <a:solidFill>
                  <a:srgbClr val="112642"/>
                </a:solidFill>
                <a:latin typeface="Georgia" panose="02040502050405020303" pitchFamily="34" charset="0"/>
                <a:ea typeface="Georgia" panose="02040502050405020303" pitchFamily="34" charset="-122"/>
                <a:cs typeface="Georgia" panose="02040502050405020303" pitchFamily="34" charset="-120"/>
              </a:rPr>
              <a:t>Нет единого реестра</a:t>
            </a:r>
            <a:endParaRPr lang="en-US" sz="1380" dirty="0"/>
          </a:p>
        </p:txBody>
      </p:sp>
      <p:sp>
        <p:nvSpPr>
          <p:cNvPr id="14" name="Text 12"/>
          <p:cNvSpPr/>
          <p:nvPr/>
        </p:nvSpPr>
        <p:spPr>
          <a:xfrm>
            <a:off x="4892040" y="2852928"/>
            <a:ext cx="1673352" cy="594360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000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Сложно быстро понять, какое оборудование есть в компании и где оно находится.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7040880" y="960120"/>
            <a:ext cx="2057400" cy="2788920"/>
          </a:xfrm>
          <a:prstGeom prst="roundRect">
            <a:avLst>
              <a:gd name="adj" fmla="val 2444"/>
            </a:avLst>
          </a:prstGeom>
          <a:solidFill>
            <a:srgbClr val="FCFAF5"/>
          </a:solidFill>
          <a:ln w="9525">
            <a:solidFill>
              <a:srgbClr val="D9D1C3"/>
            </a:solidFill>
            <a:prstDash val="solid"/>
          </a:ln>
          <a:effectLst>
            <a:outerShdw blurRad="25400" dist="50800" dir="2700000" algn="bl" rotWithShape="0">
              <a:srgbClr val="C8BFAF">
                <a:alpha val="13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7205472" y="1124712"/>
            <a:ext cx="274320" cy="274320"/>
          </a:xfrm>
          <a:prstGeom prst="ellipse">
            <a:avLst/>
          </a:prstGeom>
          <a:solidFill>
            <a:srgbClr val="112642"/>
          </a:solidFill>
          <a:ln w="12700">
            <a:solidFill>
              <a:srgbClr val="112642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7205472" y="1193292"/>
            <a:ext cx="274320" cy="91440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02</a:t>
            </a:r>
            <a:endParaRPr lang="en-US" sz="750" dirty="0"/>
          </a:p>
        </p:txBody>
      </p:sp>
      <p:sp>
        <p:nvSpPr>
          <p:cNvPr id="18" name="Shape 16"/>
          <p:cNvSpPr/>
          <p:nvPr/>
        </p:nvSpPr>
        <p:spPr>
          <a:xfrm>
            <a:off x="7461504" y="1645920"/>
            <a:ext cx="512064" cy="457200"/>
          </a:xfrm>
          <a:prstGeom prst="roundRect">
            <a:avLst>
              <a:gd name="adj" fmla="val 12000"/>
            </a:avLst>
          </a:prstGeom>
          <a:solidFill>
            <a:srgbClr val="F7F3EC"/>
          </a:solidFill>
          <a:ln w="7620">
            <a:solidFill>
              <a:srgbClr val="C7BFAF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7461504" y="1801368"/>
            <a:ext cx="512064" cy="109728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11264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ID</a:t>
            </a:r>
            <a:endParaRPr lang="en-US" sz="1050" dirty="0"/>
          </a:p>
        </p:txBody>
      </p:sp>
      <p:sp>
        <p:nvSpPr>
          <p:cNvPr id="20" name="Text 18"/>
          <p:cNvSpPr/>
          <p:nvPr/>
        </p:nvSpPr>
        <p:spPr>
          <a:xfrm>
            <a:off x="7223760" y="2331720"/>
            <a:ext cx="1755648" cy="365760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380" b="1" dirty="0">
                <a:solidFill>
                  <a:srgbClr val="112642"/>
                </a:solidFill>
                <a:latin typeface="Georgia" panose="02040502050405020303" pitchFamily="34" charset="0"/>
                <a:ea typeface="Georgia" panose="02040502050405020303" pitchFamily="34" charset="-122"/>
                <a:cs typeface="Georgia" panose="02040502050405020303" pitchFamily="34" charset="-120"/>
              </a:rPr>
              <a:t>Слабый контроль выдач</a:t>
            </a:r>
            <a:endParaRPr lang="en-US" sz="1380" dirty="0"/>
          </a:p>
        </p:txBody>
      </p:sp>
      <p:sp>
        <p:nvSpPr>
          <p:cNvPr id="21" name="Text 19"/>
          <p:cNvSpPr/>
          <p:nvPr/>
        </p:nvSpPr>
        <p:spPr>
          <a:xfrm>
            <a:off x="7223760" y="2852928"/>
            <a:ext cx="1673352" cy="594360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000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Трудно доказать, кому и когда был выдан актив, когда его должны вернуть и есть ли просрочка.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9372600" y="960120"/>
            <a:ext cx="2057400" cy="2788920"/>
          </a:xfrm>
          <a:prstGeom prst="roundRect">
            <a:avLst>
              <a:gd name="adj" fmla="val 2444"/>
            </a:avLst>
          </a:prstGeom>
          <a:solidFill>
            <a:srgbClr val="FCFAF5"/>
          </a:solidFill>
          <a:ln w="9525">
            <a:solidFill>
              <a:srgbClr val="D9D1C3"/>
            </a:solidFill>
            <a:prstDash val="solid"/>
          </a:ln>
          <a:effectLst>
            <a:outerShdw blurRad="25400" dist="50800" dir="2700000" algn="bl" rotWithShape="0">
              <a:srgbClr val="C8BFAF">
                <a:alpha val="13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9537192" y="1124712"/>
            <a:ext cx="274320" cy="274320"/>
          </a:xfrm>
          <a:prstGeom prst="ellipse">
            <a:avLst/>
          </a:prstGeom>
          <a:solidFill>
            <a:srgbClr val="112642"/>
          </a:solidFill>
          <a:ln w="12700">
            <a:solidFill>
              <a:srgbClr val="112642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9537192" y="1193292"/>
            <a:ext cx="274320" cy="91440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03</a:t>
            </a:r>
            <a:endParaRPr lang="en-US" sz="750" dirty="0"/>
          </a:p>
        </p:txBody>
      </p:sp>
      <p:sp>
        <p:nvSpPr>
          <p:cNvPr id="25" name="Shape 23"/>
          <p:cNvSpPr/>
          <p:nvPr/>
        </p:nvSpPr>
        <p:spPr>
          <a:xfrm>
            <a:off x="9793224" y="1645920"/>
            <a:ext cx="512064" cy="457200"/>
          </a:xfrm>
          <a:prstGeom prst="roundRect">
            <a:avLst>
              <a:gd name="adj" fmla="val 12000"/>
            </a:avLst>
          </a:prstGeom>
          <a:solidFill>
            <a:srgbClr val="F7F3EC"/>
          </a:solidFill>
          <a:ln w="7620">
            <a:solidFill>
              <a:srgbClr val="C7BFAF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9793224" y="1801368"/>
            <a:ext cx="512064" cy="109728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11264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</a:t>
            </a:r>
            <a:endParaRPr lang="en-US" sz="1050" dirty="0"/>
          </a:p>
        </p:txBody>
      </p:sp>
      <p:sp>
        <p:nvSpPr>
          <p:cNvPr id="27" name="Text 25"/>
          <p:cNvSpPr/>
          <p:nvPr/>
        </p:nvSpPr>
        <p:spPr>
          <a:xfrm>
            <a:off x="9555480" y="2331720"/>
            <a:ext cx="1755648" cy="365760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380" b="1" dirty="0">
                <a:solidFill>
                  <a:srgbClr val="112642"/>
                </a:solidFill>
                <a:latin typeface="Georgia" panose="02040502050405020303" pitchFamily="34" charset="0"/>
                <a:ea typeface="Georgia" panose="02040502050405020303" pitchFamily="34" charset="-122"/>
                <a:cs typeface="Georgia" panose="02040502050405020303" pitchFamily="34" charset="-120"/>
              </a:rPr>
              <a:t>Потеря истории</a:t>
            </a:r>
            <a:endParaRPr lang="en-US" sz="1380" dirty="0"/>
          </a:p>
        </p:txBody>
      </p:sp>
      <p:sp>
        <p:nvSpPr>
          <p:cNvPr id="28" name="Text 26"/>
          <p:cNvSpPr/>
          <p:nvPr/>
        </p:nvSpPr>
        <p:spPr>
          <a:xfrm>
            <a:off x="9555480" y="2852928"/>
            <a:ext cx="1673352" cy="594360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000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Ремонты, инвентаризации и действия пользователей теряются или фиксируются не полностью.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4709160" y="4069080"/>
            <a:ext cx="6720840" cy="1797050"/>
          </a:xfrm>
          <a:prstGeom prst="roundRect">
            <a:avLst>
              <a:gd name="adj" fmla="val 3548"/>
            </a:avLst>
          </a:prstGeom>
          <a:solidFill>
            <a:srgbClr val="FCFAF5"/>
          </a:solidFill>
          <a:ln w="9525">
            <a:solidFill>
              <a:srgbClr val="D9D1C3"/>
            </a:solidFill>
            <a:prstDash val="solid"/>
          </a:ln>
          <a:effectLst>
            <a:outerShdw blurRad="25400" dist="50800" dir="2700000" algn="bl" rotWithShape="0">
              <a:srgbClr val="C8BFAF">
                <a:alpha val="13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4983480" y="4361688"/>
            <a:ext cx="502920" cy="457200"/>
          </a:xfrm>
          <a:prstGeom prst="roundRect">
            <a:avLst>
              <a:gd name="adj" fmla="val 12000"/>
            </a:avLst>
          </a:prstGeom>
          <a:solidFill>
            <a:srgbClr val="112642"/>
          </a:solidFill>
          <a:ln w="7620">
            <a:solidFill>
              <a:srgbClr val="112642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4983480" y="4507992"/>
            <a:ext cx="502920" cy="109728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GO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5650992" y="4315968"/>
            <a:ext cx="2286000" cy="219456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112642"/>
                </a:solidFill>
                <a:latin typeface="Georgia" panose="02040502050405020303" pitchFamily="34" charset="0"/>
                <a:ea typeface="Georgia" panose="02040502050405020303" pitchFamily="34" charset="-122"/>
                <a:cs typeface="Georgia" panose="02040502050405020303" pitchFamily="34" charset="-120"/>
              </a:rPr>
              <a:t>Цель проекта</a:t>
            </a:r>
            <a:endParaRPr lang="en-US" sz="1500" dirty="0"/>
          </a:p>
        </p:txBody>
      </p:sp>
      <p:sp>
        <p:nvSpPr>
          <p:cNvPr id="33" name="Text 31"/>
          <p:cNvSpPr/>
          <p:nvPr/>
        </p:nvSpPr>
        <p:spPr>
          <a:xfrm>
            <a:off x="5650992" y="4645152"/>
            <a:ext cx="5349240" cy="347472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030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Создать единую веб-систему, которая автоматизирует жизненный цикл оборудования: поступление, выдачу, возврат, ремонт, инвентаризацию, отчётность и контроль действий пользователей.</a:t>
            </a:r>
            <a:endParaRPr lang="en-US" sz="1030" dirty="0"/>
          </a:p>
        </p:txBody>
      </p:sp>
      <p:sp>
        <p:nvSpPr>
          <p:cNvPr id="34" name="Shape 32"/>
          <p:cNvSpPr/>
          <p:nvPr/>
        </p:nvSpPr>
        <p:spPr>
          <a:xfrm>
            <a:off x="4956048" y="5166360"/>
            <a:ext cx="6172200" cy="7315"/>
          </a:xfrm>
          <a:prstGeom prst="rect">
            <a:avLst/>
          </a:prstGeom>
          <a:solidFill>
            <a:srgbClr val="E4DDD1"/>
          </a:solidFill>
          <a:ln w="12700">
            <a:solidFill>
              <a:srgbClr val="E4DDD1">
                <a:alpha val="0"/>
              </a:srgbClr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5650992" y="5266944"/>
            <a:ext cx="5074920" cy="146304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050" b="1" dirty="0">
                <a:solidFill>
                  <a:srgbClr val="11264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Результат — прозрачный учёт активов, меньше ручной работы и больше управленческого контроля.</a:t>
            </a:r>
            <a:endParaRPr lang="en-US" sz="10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3E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228600" y="182880"/>
            <a:ext cx="11734495" cy="6492240"/>
          </a:xfrm>
          <a:prstGeom prst="roundRect">
            <a:avLst>
              <a:gd name="adj" fmla="val 704"/>
            </a:avLst>
          </a:prstGeom>
          <a:solidFill>
            <a:srgbClr val="F7F3EC">
              <a:alpha val="0"/>
            </a:srgbClr>
          </a:solidFill>
          <a:ln w="9525">
            <a:solidFill>
              <a:srgbClr val="D9D1C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1533327" y="384048"/>
            <a:ext cx="329184" cy="1828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50" dirty="0">
                <a:solidFill>
                  <a:srgbClr val="11264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03</a:t>
            </a:r>
            <a:endParaRPr lang="en-US" sz="1050" dirty="0"/>
          </a:p>
        </p:txBody>
      </p:sp>
      <p:sp>
        <p:nvSpPr>
          <p:cNvPr id="4" name="Text 2"/>
          <p:cNvSpPr/>
          <p:nvPr/>
        </p:nvSpPr>
        <p:spPr>
          <a:xfrm>
            <a:off x="530352" y="566928"/>
            <a:ext cx="3657600" cy="201168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850" b="1" dirty="0">
                <a:solidFill>
                  <a:srgbClr val="7A726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ИДЕЯ И АДРЕСАТЫ</a:t>
            </a:r>
            <a:endParaRPr lang="en-US" sz="850" dirty="0"/>
          </a:p>
        </p:txBody>
      </p:sp>
      <p:sp>
        <p:nvSpPr>
          <p:cNvPr id="5" name="Text 3"/>
          <p:cNvSpPr/>
          <p:nvPr/>
        </p:nvSpPr>
        <p:spPr>
          <a:xfrm>
            <a:off x="530352" y="932688"/>
            <a:ext cx="5029200" cy="640080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3200" b="1" dirty="0">
                <a:solidFill>
                  <a:srgbClr val="112642"/>
                </a:solidFill>
                <a:latin typeface="Georgia" panose="02040502050405020303" pitchFamily="34" charset="0"/>
                <a:ea typeface="Georgia" panose="02040502050405020303" pitchFamily="34" charset="-122"/>
                <a:cs typeface="Georgia" panose="02040502050405020303" pitchFamily="34" charset="-120"/>
              </a:rPr>
              <a:t>Для кого создана система</a:t>
            </a:r>
            <a:endParaRPr lang="en-US" sz="3200" dirty="0"/>
          </a:p>
        </p:txBody>
      </p:sp>
      <p:sp>
        <p:nvSpPr>
          <p:cNvPr id="6" name="Shape 4"/>
          <p:cNvSpPr/>
          <p:nvPr/>
        </p:nvSpPr>
        <p:spPr>
          <a:xfrm>
            <a:off x="530352" y="1627632"/>
            <a:ext cx="457200" cy="22860"/>
          </a:xfrm>
          <a:prstGeom prst="rect">
            <a:avLst/>
          </a:prstGeom>
          <a:solidFill>
            <a:srgbClr val="112642"/>
          </a:solidFill>
          <a:ln w="12700">
            <a:solidFill>
              <a:srgbClr val="112642">
                <a:alpha val="0"/>
              </a:srgbClr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48640" y="1792224"/>
            <a:ext cx="4709160" cy="594360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430" dirty="0">
                <a:solidFill>
                  <a:srgbClr val="111827"/>
                </a:solidFill>
                <a:latin typeface="Georgia" panose="02040502050405020303" pitchFamily="34" charset="0"/>
                <a:ea typeface="Georgia" panose="02040502050405020303" pitchFamily="34" charset="-122"/>
                <a:cs typeface="Georgia" panose="02040502050405020303" pitchFamily="34" charset="-120"/>
              </a:rPr>
              <a:t>AssetControl — внутренняя корпоративная система для предприятия: ответственным сотрудникам проще контролировать активы, аудитору — видеть историю действий.</a:t>
            </a:r>
            <a:endParaRPr lang="en-US" sz="1430" dirty="0"/>
          </a:p>
        </p:txBody>
      </p:sp>
      <p:sp>
        <p:nvSpPr>
          <p:cNvPr id="8" name="Shape 6"/>
          <p:cNvSpPr/>
          <p:nvPr/>
        </p:nvSpPr>
        <p:spPr>
          <a:xfrm>
            <a:off x="640080" y="2743200"/>
            <a:ext cx="420624" cy="420624"/>
          </a:xfrm>
          <a:prstGeom prst="roundRect">
            <a:avLst>
              <a:gd name="adj" fmla="val 13043"/>
            </a:avLst>
          </a:prstGeom>
          <a:solidFill>
            <a:srgbClr val="112642"/>
          </a:solidFill>
          <a:ln w="7620">
            <a:solidFill>
              <a:srgbClr val="112642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40080" y="2871216"/>
            <a:ext cx="420624" cy="109728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</a:t>
            </a:r>
            <a:endParaRPr lang="en-US" sz="950" dirty="0"/>
          </a:p>
        </p:txBody>
      </p:sp>
      <p:sp>
        <p:nvSpPr>
          <p:cNvPr id="10" name="Text 8"/>
          <p:cNvSpPr/>
          <p:nvPr/>
        </p:nvSpPr>
        <p:spPr>
          <a:xfrm>
            <a:off x="1234440" y="2697480"/>
            <a:ext cx="2377440" cy="219456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450" b="1" dirty="0">
                <a:solidFill>
                  <a:srgbClr val="112642"/>
                </a:solidFill>
                <a:latin typeface="Georgia" panose="02040502050405020303" pitchFamily="34" charset="0"/>
                <a:ea typeface="Georgia" panose="02040502050405020303" pitchFamily="34" charset="-122"/>
                <a:cs typeface="Georgia" panose="02040502050405020303" pitchFamily="34" charset="-120"/>
              </a:rPr>
              <a:t>Администратор</a:t>
            </a:r>
            <a:endParaRPr lang="en-US" sz="1450" dirty="0"/>
          </a:p>
        </p:txBody>
      </p:sp>
      <p:sp>
        <p:nvSpPr>
          <p:cNvPr id="11" name="Text 9"/>
          <p:cNvSpPr/>
          <p:nvPr/>
        </p:nvSpPr>
        <p:spPr>
          <a:xfrm>
            <a:off x="1234440" y="2953512"/>
            <a:ext cx="3383280" cy="329184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020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Пользователи, оборудование, отчёты и критичные операции.</a:t>
            </a:r>
            <a:endParaRPr lang="en-US" sz="1020" dirty="0"/>
          </a:p>
        </p:txBody>
      </p:sp>
      <p:sp>
        <p:nvSpPr>
          <p:cNvPr id="12" name="Shape 10"/>
          <p:cNvSpPr/>
          <p:nvPr/>
        </p:nvSpPr>
        <p:spPr>
          <a:xfrm>
            <a:off x="640080" y="3730752"/>
            <a:ext cx="420624" cy="420624"/>
          </a:xfrm>
          <a:prstGeom prst="roundRect">
            <a:avLst>
              <a:gd name="adj" fmla="val 13043"/>
            </a:avLst>
          </a:prstGeom>
          <a:solidFill>
            <a:srgbClr val="112642"/>
          </a:solidFill>
          <a:ln w="7620">
            <a:solidFill>
              <a:srgbClr val="112642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40080" y="3858768"/>
            <a:ext cx="420624" cy="109728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</a:t>
            </a:r>
            <a:endParaRPr lang="en-US" sz="950" dirty="0"/>
          </a:p>
        </p:txBody>
      </p:sp>
      <p:sp>
        <p:nvSpPr>
          <p:cNvPr id="14" name="Text 12"/>
          <p:cNvSpPr/>
          <p:nvPr/>
        </p:nvSpPr>
        <p:spPr>
          <a:xfrm>
            <a:off x="1234440" y="3685032"/>
            <a:ext cx="2377440" cy="219456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450" b="1" dirty="0">
                <a:solidFill>
                  <a:srgbClr val="112642"/>
                </a:solidFill>
                <a:latin typeface="Georgia" panose="02040502050405020303" pitchFamily="34" charset="0"/>
                <a:ea typeface="Georgia" panose="02040502050405020303" pitchFamily="34" charset="-122"/>
                <a:cs typeface="Georgia" panose="02040502050405020303" pitchFamily="34" charset="-120"/>
              </a:rPr>
              <a:t>Менеджер</a:t>
            </a:r>
            <a:endParaRPr lang="en-US" sz="1450" dirty="0"/>
          </a:p>
        </p:txBody>
      </p:sp>
      <p:sp>
        <p:nvSpPr>
          <p:cNvPr id="15" name="Text 13"/>
          <p:cNvSpPr/>
          <p:nvPr/>
        </p:nvSpPr>
        <p:spPr>
          <a:xfrm>
            <a:off x="1234440" y="3941064"/>
            <a:ext cx="3383280" cy="329184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020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Активы, выдачи, ремонты и инвентаризация.</a:t>
            </a:r>
            <a:endParaRPr lang="en-US" sz="1020" dirty="0"/>
          </a:p>
        </p:txBody>
      </p:sp>
      <p:sp>
        <p:nvSpPr>
          <p:cNvPr id="16" name="Shape 14"/>
          <p:cNvSpPr/>
          <p:nvPr/>
        </p:nvSpPr>
        <p:spPr>
          <a:xfrm>
            <a:off x="640080" y="4718304"/>
            <a:ext cx="420624" cy="420624"/>
          </a:xfrm>
          <a:prstGeom prst="roundRect">
            <a:avLst>
              <a:gd name="adj" fmla="val 13043"/>
            </a:avLst>
          </a:prstGeom>
          <a:solidFill>
            <a:srgbClr val="112642"/>
          </a:solidFill>
          <a:ln w="7620">
            <a:solidFill>
              <a:srgbClr val="112642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40080" y="4846320"/>
            <a:ext cx="420624" cy="109728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AU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1234440" y="4672584"/>
            <a:ext cx="2377440" cy="219456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450" b="1" dirty="0">
                <a:solidFill>
                  <a:srgbClr val="112642"/>
                </a:solidFill>
                <a:latin typeface="Georgia" panose="02040502050405020303" pitchFamily="34" charset="0"/>
                <a:ea typeface="Georgia" panose="02040502050405020303" pitchFamily="34" charset="-122"/>
                <a:cs typeface="Georgia" panose="02040502050405020303" pitchFamily="34" charset="-120"/>
              </a:rPr>
              <a:t>Аудитор</a:t>
            </a:r>
            <a:endParaRPr lang="en-US" sz="1450" dirty="0"/>
          </a:p>
        </p:txBody>
      </p:sp>
      <p:sp>
        <p:nvSpPr>
          <p:cNvPr id="19" name="Text 17"/>
          <p:cNvSpPr/>
          <p:nvPr/>
        </p:nvSpPr>
        <p:spPr>
          <a:xfrm>
            <a:off x="1234440" y="4928616"/>
            <a:ext cx="3383280" cy="329184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020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Прозрачный доступ к отчётам и журналу действий.</a:t>
            </a:r>
            <a:endParaRPr lang="en-US" sz="1020" dirty="0"/>
          </a:p>
        </p:txBody>
      </p:sp>
      <p:sp>
        <p:nvSpPr>
          <p:cNvPr id="20" name="Shape 18"/>
          <p:cNvSpPr/>
          <p:nvPr/>
        </p:nvSpPr>
        <p:spPr>
          <a:xfrm>
            <a:off x="5577840" y="841248"/>
            <a:ext cx="2834640" cy="2011680"/>
          </a:xfrm>
          <a:prstGeom prst="roundRect">
            <a:avLst>
              <a:gd name="adj" fmla="val 2500"/>
            </a:avLst>
          </a:prstGeom>
          <a:solidFill>
            <a:srgbClr val="FCFAF5"/>
          </a:solidFill>
          <a:ln w="9525">
            <a:solidFill>
              <a:srgbClr val="D9D1C3"/>
            </a:solidFill>
            <a:prstDash val="solid"/>
          </a:ln>
          <a:effectLst>
            <a:outerShdw blurRad="25400" dist="50800" dir="2700000" algn="bl" rotWithShape="0">
              <a:srgbClr val="C8BFAF">
                <a:alpha val="13000"/>
              </a:srgbClr>
            </a:outerShdw>
          </a:effectLst>
        </p:spPr>
      </p:sp>
      <p:pic>
        <p:nvPicPr>
          <p:cNvPr id="21" name="Image 0" descr="/mnt/data/12-about-project(1)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652089" y="914400"/>
            <a:ext cx="2686141" cy="1865376"/>
          </a:xfrm>
          <a:prstGeom prst="rect">
            <a:avLst/>
          </a:prstGeom>
        </p:spPr>
      </p:pic>
      <p:sp>
        <p:nvSpPr>
          <p:cNvPr id="22" name="Shape 19"/>
          <p:cNvSpPr/>
          <p:nvPr/>
        </p:nvSpPr>
        <p:spPr>
          <a:xfrm>
            <a:off x="8641080" y="841248"/>
            <a:ext cx="2697480" cy="2011680"/>
          </a:xfrm>
          <a:prstGeom prst="roundRect">
            <a:avLst>
              <a:gd name="adj" fmla="val 2500"/>
            </a:avLst>
          </a:prstGeom>
          <a:solidFill>
            <a:srgbClr val="FCFAF5"/>
          </a:solidFill>
          <a:ln w="9525">
            <a:solidFill>
              <a:srgbClr val="D9D1C3"/>
            </a:solidFill>
            <a:prstDash val="solid"/>
          </a:ln>
          <a:effectLst>
            <a:outerShdw blurRad="25400" dist="50800" dir="2700000" algn="bl" rotWithShape="0">
              <a:srgbClr val="C8BFAF">
                <a:alpha val="13000"/>
              </a:srgbClr>
            </a:outerShdw>
          </a:effectLst>
        </p:spPr>
      </p:sp>
      <p:pic>
        <p:nvPicPr>
          <p:cNvPr id="23" name="Image 1" descr="/mnt/data/11-profile(1)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714232" y="961263"/>
            <a:ext cx="2551176" cy="1771650"/>
          </a:xfrm>
          <a:prstGeom prst="rect">
            <a:avLst/>
          </a:prstGeom>
        </p:spPr>
      </p:pic>
      <p:sp>
        <p:nvSpPr>
          <p:cNvPr id="24" name="Shape 20"/>
          <p:cNvSpPr/>
          <p:nvPr/>
        </p:nvSpPr>
        <p:spPr>
          <a:xfrm>
            <a:off x="5577840" y="3337560"/>
            <a:ext cx="5760720" cy="1371600"/>
          </a:xfrm>
          <a:prstGeom prst="roundRect">
            <a:avLst>
              <a:gd name="adj" fmla="val 3667"/>
            </a:avLst>
          </a:prstGeom>
          <a:solidFill>
            <a:srgbClr val="FCFAF5"/>
          </a:solidFill>
          <a:ln w="9525">
            <a:solidFill>
              <a:srgbClr val="D9D1C3"/>
            </a:solidFill>
            <a:prstDash val="solid"/>
          </a:ln>
          <a:effectLst>
            <a:outerShdw blurRad="25400" dist="50800" dir="2700000" algn="bl" rotWithShape="0">
              <a:srgbClr val="C8BFAF">
                <a:alpha val="13000"/>
              </a:srgbClr>
            </a:outerShdw>
          </a:effectLst>
        </p:spPr>
      </p:sp>
      <p:sp>
        <p:nvSpPr>
          <p:cNvPr id="25" name="Text 21"/>
          <p:cNvSpPr/>
          <p:nvPr/>
        </p:nvSpPr>
        <p:spPr>
          <a:xfrm>
            <a:off x="5833872" y="3657600"/>
            <a:ext cx="1828800" cy="219456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520" b="1" dirty="0">
                <a:solidFill>
                  <a:srgbClr val="112642"/>
                </a:solidFill>
                <a:latin typeface="Georgia" panose="02040502050405020303" pitchFamily="34" charset="0"/>
                <a:ea typeface="Georgia" panose="02040502050405020303" pitchFamily="34" charset="-122"/>
                <a:cs typeface="Georgia" panose="02040502050405020303" pitchFamily="34" charset="-120"/>
              </a:rPr>
              <a:t>Главная идея</a:t>
            </a:r>
            <a:endParaRPr lang="en-US" sz="1520" dirty="0"/>
          </a:p>
        </p:txBody>
      </p:sp>
      <p:sp>
        <p:nvSpPr>
          <p:cNvPr id="26" name="Text 22"/>
          <p:cNvSpPr/>
          <p:nvPr/>
        </p:nvSpPr>
        <p:spPr>
          <a:xfrm>
            <a:off x="5833872" y="4041648"/>
            <a:ext cx="4983480" cy="365760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120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Показать не отдельный CRUD, а полный жизненный цикл материальных активов: от постановки на баланс до отчётности, мониторинга и контроля действий пользователей.</a:t>
            </a:r>
            <a:endParaRPr lang="en-US" sz="1120" dirty="0"/>
          </a:p>
        </p:txBody>
      </p:sp>
      <p:sp>
        <p:nvSpPr>
          <p:cNvPr id="27" name="Shape 23"/>
          <p:cNvSpPr/>
          <p:nvPr/>
        </p:nvSpPr>
        <p:spPr>
          <a:xfrm>
            <a:off x="530352" y="6108192"/>
            <a:ext cx="11109960" cy="411480"/>
          </a:xfrm>
          <a:prstGeom prst="roundRect">
            <a:avLst>
              <a:gd name="adj" fmla="val 12222"/>
            </a:avLst>
          </a:prstGeom>
          <a:solidFill>
            <a:srgbClr val="FAF7EF"/>
          </a:solidFill>
          <a:ln w="9525">
            <a:solidFill>
              <a:srgbClr val="D9D1C3"/>
            </a:solidFill>
            <a:prstDash val="solid"/>
          </a:ln>
        </p:spPr>
      </p:sp>
      <p:sp>
        <p:nvSpPr>
          <p:cNvPr id="28" name="Shape 24"/>
          <p:cNvSpPr/>
          <p:nvPr/>
        </p:nvSpPr>
        <p:spPr>
          <a:xfrm>
            <a:off x="713232" y="6181344"/>
            <a:ext cx="274320" cy="274320"/>
          </a:xfrm>
          <a:prstGeom prst="roundRect">
            <a:avLst>
              <a:gd name="adj" fmla="val 20000"/>
            </a:avLst>
          </a:prstGeom>
          <a:solidFill>
            <a:srgbClr val="112642"/>
          </a:solidFill>
          <a:ln w="7620">
            <a:solidFill>
              <a:srgbClr val="112642"/>
            </a:solidFill>
            <a:prstDash val="solid"/>
          </a:ln>
        </p:spPr>
      </p:sp>
      <p:sp>
        <p:nvSpPr>
          <p:cNvPr id="29" name="Text 25"/>
          <p:cNvSpPr/>
          <p:nvPr/>
        </p:nvSpPr>
        <p:spPr>
          <a:xfrm>
            <a:off x="713232" y="6254496"/>
            <a:ext cx="274320" cy="109728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✓</a:t>
            </a:r>
            <a:endParaRPr lang="en-US" sz="900" dirty="0"/>
          </a:p>
        </p:txBody>
      </p:sp>
      <p:sp>
        <p:nvSpPr>
          <p:cNvPr id="30" name="Text 26"/>
          <p:cNvSpPr/>
          <p:nvPr/>
        </p:nvSpPr>
        <p:spPr>
          <a:xfrm>
            <a:off x="1078992" y="6227064"/>
            <a:ext cx="10012680" cy="155448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060" dirty="0">
                <a:solidFill>
                  <a:srgbClr val="5B5F5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Проект рассчитан на локальное развёртывание внутри организации, но архитектурно может развиваться дальше.</a:t>
            </a:r>
            <a:endParaRPr lang="en-US" sz="106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3E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228600" y="182880"/>
            <a:ext cx="11734495" cy="6492240"/>
          </a:xfrm>
          <a:prstGeom prst="roundRect">
            <a:avLst>
              <a:gd name="adj" fmla="val 704"/>
            </a:avLst>
          </a:prstGeom>
          <a:solidFill>
            <a:srgbClr val="F7F3EC">
              <a:alpha val="0"/>
            </a:srgbClr>
          </a:solidFill>
          <a:ln w="9525">
            <a:solidFill>
              <a:srgbClr val="D9D1C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1533327" y="384048"/>
            <a:ext cx="329184" cy="1828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50" dirty="0">
                <a:solidFill>
                  <a:srgbClr val="11264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04</a:t>
            </a:r>
            <a:endParaRPr lang="en-US" sz="1050" dirty="0"/>
          </a:p>
        </p:txBody>
      </p:sp>
      <p:sp>
        <p:nvSpPr>
          <p:cNvPr id="4" name="Text 2"/>
          <p:cNvSpPr/>
          <p:nvPr/>
        </p:nvSpPr>
        <p:spPr>
          <a:xfrm>
            <a:off x="530352" y="566928"/>
            <a:ext cx="3657600" cy="201168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850" b="1" dirty="0">
                <a:solidFill>
                  <a:srgbClr val="7A726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ФУНКЦИИ И РОЛИ</a:t>
            </a:r>
            <a:endParaRPr lang="en-US" sz="850" dirty="0"/>
          </a:p>
        </p:txBody>
      </p:sp>
      <p:sp>
        <p:nvSpPr>
          <p:cNvPr id="5" name="Text 3"/>
          <p:cNvSpPr/>
          <p:nvPr/>
        </p:nvSpPr>
        <p:spPr>
          <a:xfrm>
            <a:off x="530352" y="896112"/>
            <a:ext cx="6583680" cy="658368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3200" b="1" dirty="0">
                <a:solidFill>
                  <a:srgbClr val="112642"/>
                </a:solidFill>
                <a:latin typeface="Georgia" panose="02040502050405020303" pitchFamily="34" charset="0"/>
                <a:ea typeface="Georgia" panose="02040502050405020303" pitchFamily="34" charset="-122"/>
                <a:cs typeface="Georgia" panose="02040502050405020303" pitchFamily="34" charset="-120"/>
              </a:rPr>
              <a:t>Ключевые возможности системы</a:t>
            </a:r>
            <a:endParaRPr lang="en-US" sz="3200" dirty="0"/>
          </a:p>
        </p:txBody>
      </p:sp>
      <p:sp>
        <p:nvSpPr>
          <p:cNvPr id="6" name="Shape 4"/>
          <p:cNvSpPr/>
          <p:nvPr/>
        </p:nvSpPr>
        <p:spPr>
          <a:xfrm>
            <a:off x="530352" y="1609344"/>
            <a:ext cx="457200" cy="22860"/>
          </a:xfrm>
          <a:prstGeom prst="rect">
            <a:avLst/>
          </a:prstGeom>
          <a:solidFill>
            <a:srgbClr val="112642"/>
          </a:solidFill>
          <a:ln w="12700">
            <a:solidFill>
              <a:srgbClr val="112642">
                <a:alpha val="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530352" y="1828800"/>
            <a:ext cx="1499616" cy="411480"/>
          </a:xfrm>
          <a:prstGeom prst="roundRect">
            <a:avLst>
              <a:gd name="adj" fmla="val 12222"/>
            </a:avLst>
          </a:prstGeom>
          <a:solidFill>
            <a:srgbClr val="FAF7EF"/>
          </a:solidFill>
          <a:ln w="9525">
            <a:solidFill>
              <a:srgbClr val="D9D1C3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85216" y="1975104"/>
            <a:ext cx="1389888" cy="109728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112642"/>
                </a:solidFill>
                <a:latin typeface="Georgia" panose="02040502050405020303" pitchFamily="34" charset="0"/>
                <a:ea typeface="Georgia" panose="02040502050405020303" pitchFamily="34" charset="-122"/>
                <a:cs typeface="Georgia" panose="02040502050405020303" pitchFamily="34" charset="-120"/>
              </a:rPr>
              <a:t>Поступление</a:t>
            </a: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>
            <a:off x="2066544" y="1965960"/>
            <a:ext cx="109728" cy="91440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11264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→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2212848" y="1828800"/>
            <a:ext cx="1499616" cy="411480"/>
          </a:xfrm>
          <a:prstGeom prst="roundRect">
            <a:avLst>
              <a:gd name="adj" fmla="val 12222"/>
            </a:avLst>
          </a:prstGeom>
          <a:solidFill>
            <a:srgbClr val="FAF7EF"/>
          </a:solidFill>
          <a:ln w="9525">
            <a:solidFill>
              <a:srgbClr val="D9D1C3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2267712" y="1975104"/>
            <a:ext cx="1389888" cy="109728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112642"/>
                </a:solidFill>
                <a:latin typeface="Georgia" panose="02040502050405020303" pitchFamily="34" charset="0"/>
                <a:ea typeface="Georgia" panose="02040502050405020303" pitchFamily="34" charset="-122"/>
                <a:cs typeface="Georgia" panose="02040502050405020303" pitchFamily="34" charset="-120"/>
              </a:rPr>
              <a:t>Выдача</a:t>
            </a:r>
            <a:endParaRPr lang="en-US" sz="1050" dirty="0"/>
          </a:p>
        </p:txBody>
      </p:sp>
      <p:sp>
        <p:nvSpPr>
          <p:cNvPr id="12" name="Text 10"/>
          <p:cNvSpPr/>
          <p:nvPr/>
        </p:nvSpPr>
        <p:spPr>
          <a:xfrm>
            <a:off x="3749040" y="1965960"/>
            <a:ext cx="109728" cy="91440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11264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→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3895344" y="1828800"/>
            <a:ext cx="1499616" cy="411480"/>
          </a:xfrm>
          <a:prstGeom prst="roundRect">
            <a:avLst>
              <a:gd name="adj" fmla="val 12222"/>
            </a:avLst>
          </a:prstGeom>
          <a:solidFill>
            <a:srgbClr val="FAF7EF"/>
          </a:solidFill>
          <a:ln w="9525">
            <a:solidFill>
              <a:srgbClr val="D9D1C3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950208" y="1975104"/>
            <a:ext cx="1389888" cy="109728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112642"/>
                </a:solidFill>
                <a:latin typeface="Georgia" panose="02040502050405020303" pitchFamily="34" charset="0"/>
                <a:ea typeface="Georgia" panose="02040502050405020303" pitchFamily="34" charset="-122"/>
                <a:cs typeface="Georgia" panose="02040502050405020303" pitchFamily="34" charset="-120"/>
              </a:rPr>
              <a:t>Возврат</a:t>
            </a:r>
            <a:endParaRPr lang="en-US" sz="1050" dirty="0"/>
          </a:p>
        </p:txBody>
      </p:sp>
      <p:sp>
        <p:nvSpPr>
          <p:cNvPr id="15" name="Text 13"/>
          <p:cNvSpPr/>
          <p:nvPr/>
        </p:nvSpPr>
        <p:spPr>
          <a:xfrm>
            <a:off x="5431536" y="1965960"/>
            <a:ext cx="109728" cy="91440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11264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→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5577840" y="1828800"/>
            <a:ext cx="1499616" cy="411480"/>
          </a:xfrm>
          <a:prstGeom prst="roundRect">
            <a:avLst>
              <a:gd name="adj" fmla="val 12222"/>
            </a:avLst>
          </a:prstGeom>
          <a:solidFill>
            <a:srgbClr val="FAF7EF"/>
          </a:solidFill>
          <a:ln w="9525">
            <a:solidFill>
              <a:srgbClr val="D9D1C3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632704" y="1975104"/>
            <a:ext cx="1389888" cy="109728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112642"/>
                </a:solidFill>
                <a:latin typeface="Georgia" panose="02040502050405020303" pitchFamily="34" charset="0"/>
                <a:ea typeface="Georgia" panose="02040502050405020303" pitchFamily="34" charset="-122"/>
                <a:cs typeface="Georgia" panose="02040502050405020303" pitchFamily="34" charset="-120"/>
              </a:rPr>
              <a:t>Ремонт</a:t>
            </a:r>
            <a:endParaRPr lang="en-US" sz="1050" dirty="0"/>
          </a:p>
        </p:txBody>
      </p:sp>
      <p:sp>
        <p:nvSpPr>
          <p:cNvPr id="18" name="Text 16"/>
          <p:cNvSpPr/>
          <p:nvPr/>
        </p:nvSpPr>
        <p:spPr>
          <a:xfrm>
            <a:off x="7114032" y="1965960"/>
            <a:ext cx="109728" cy="91440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11264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→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7260336" y="1828800"/>
            <a:ext cx="1499616" cy="411480"/>
          </a:xfrm>
          <a:prstGeom prst="roundRect">
            <a:avLst>
              <a:gd name="adj" fmla="val 12222"/>
            </a:avLst>
          </a:prstGeom>
          <a:solidFill>
            <a:srgbClr val="FAF7EF"/>
          </a:solidFill>
          <a:ln w="9525">
            <a:solidFill>
              <a:srgbClr val="D9D1C3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7315200" y="1975104"/>
            <a:ext cx="1389888" cy="109728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112642"/>
                </a:solidFill>
                <a:latin typeface="Georgia" panose="02040502050405020303" pitchFamily="34" charset="0"/>
                <a:ea typeface="Georgia" panose="02040502050405020303" pitchFamily="34" charset="-122"/>
                <a:cs typeface="Georgia" panose="02040502050405020303" pitchFamily="34" charset="-120"/>
              </a:rPr>
              <a:t>Инвентаризация</a:t>
            </a:r>
            <a:endParaRPr lang="en-US" sz="1050" dirty="0"/>
          </a:p>
        </p:txBody>
      </p:sp>
      <p:sp>
        <p:nvSpPr>
          <p:cNvPr id="21" name="Text 19"/>
          <p:cNvSpPr/>
          <p:nvPr/>
        </p:nvSpPr>
        <p:spPr>
          <a:xfrm>
            <a:off x="8796528" y="1965960"/>
            <a:ext cx="109728" cy="91440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11264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→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8942832" y="1828800"/>
            <a:ext cx="1499616" cy="411480"/>
          </a:xfrm>
          <a:prstGeom prst="roundRect">
            <a:avLst>
              <a:gd name="adj" fmla="val 12222"/>
            </a:avLst>
          </a:prstGeom>
          <a:solidFill>
            <a:srgbClr val="FAF7EF"/>
          </a:solidFill>
          <a:ln w="9525">
            <a:solidFill>
              <a:srgbClr val="D9D1C3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8997696" y="1975104"/>
            <a:ext cx="1389888" cy="109728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112642"/>
                </a:solidFill>
                <a:latin typeface="Georgia" panose="02040502050405020303" pitchFamily="34" charset="0"/>
                <a:ea typeface="Georgia" panose="02040502050405020303" pitchFamily="34" charset="-122"/>
                <a:cs typeface="Georgia" panose="02040502050405020303" pitchFamily="34" charset="-120"/>
              </a:rPr>
              <a:t>Списание</a:t>
            </a:r>
            <a:endParaRPr lang="en-US" sz="1050" dirty="0"/>
          </a:p>
        </p:txBody>
      </p:sp>
      <p:sp>
        <p:nvSpPr>
          <p:cNvPr id="24" name="Shape 22"/>
          <p:cNvSpPr/>
          <p:nvPr/>
        </p:nvSpPr>
        <p:spPr>
          <a:xfrm>
            <a:off x="530225" y="2651760"/>
            <a:ext cx="3154680" cy="1041400"/>
          </a:xfrm>
          <a:prstGeom prst="roundRect">
            <a:avLst>
              <a:gd name="adj" fmla="val 5729"/>
            </a:avLst>
          </a:prstGeom>
          <a:solidFill>
            <a:srgbClr val="FCFAF5"/>
          </a:solidFill>
          <a:ln w="9525">
            <a:solidFill>
              <a:srgbClr val="D9D1C3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694944" y="2798064"/>
            <a:ext cx="274320" cy="274320"/>
          </a:xfrm>
          <a:prstGeom prst="ellipse">
            <a:avLst/>
          </a:prstGeom>
          <a:solidFill>
            <a:srgbClr val="112642"/>
          </a:solidFill>
          <a:ln w="12700">
            <a:solidFill>
              <a:srgbClr val="112642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694944" y="2866644"/>
            <a:ext cx="274320" cy="91440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01</a:t>
            </a:r>
            <a:endParaRPr lang="en-US" sz="750" dirty="0"/>
          </a:p>
        </p:txBody>
      </p:sp>
      <p:sp>
        <p:nvSpPr>
          <p:cNvPr id="27" name="Text 25"/>
          <p:cNvSpPr/>
          <p:nvPr/>
        </p:nvSpPr>
        <p:spPr>
          <a:xfrm>
            <a:off x="1060704" y="2880360"/>
            <a:ext cx="2423160" cy="292608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450" b="1" dirty="0">
                <a:solidFill>
                  <a:srgbClr val="112642"/>
                </a:solidFill>
                <a:latin typeface="Georgia" panose="02040502050405020303" pitchFamily="34" charset="0"/>
                <a:ea typeface="Georgia" panose="02040502050405020303" pitchFamily="34" charset="-122"/>
                <a:cs typeface="Georgia" panose="02040502050405020303" pitchFamily="34" charset="-120"/>
              </a:rPr>
              <a:t>Реестр оборудования</a:t>
            </a:r>
            <a:endParaRPr lang="en-US" sz="1450" dirty="0"/>
          </a:p>
        </p:txBody>
      </p:sp>
      <p:sp>
        <p:nvSpPr>
          <p:cNvPr id="28" name="Text 26"/>
          <p:cNvSpPr/>
          <p:nvPr/>
        </p:nvSpPr>
        <p:spPr>
          <a:xfrm>
            <a:off x="786384" y="3310128"/>
            <a:ext cx="2651760" cy="100584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040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Ноутбуки, мониторы, принтеры, серверы и другие активы в единой базе.</a:t>
            </a:r>
            <a:endParaRPr lang="en-US" sz="1040" dirty="0"/>
          </a:p>
        </p:txBody>
      </p:sp>
      <p:sp>
        <p:nvSpPr>
          <p:cNvPr id="29" name="Shape 27"/>
          <p:cNvSpPr/>
          <p:nvPr/>
        </p:nvSpPr>
        <p:spPr>
          <a:xfrm>
            <a:off x="4206240" y="2651760"/>
            <a:ext cx="3154680" cy="1041400"/>
          </a:xfrm>
          <a:prstGeom prst="roundRect">
            <a:avLst>
              <a:gd name="adj" fmla="val 5729"/>
            </a:avLst>
          </a:prstGeom>
          <a:solidFill>
            <a:srgbClr val="FCFAF5"/>
          </a:solidFill>
          <a:ln w="9525">
            <a:solidFill>
              <a:srgbClr val="D9D1C3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4370832" y="2798064"/>
            <a:ext cx="274320" cy="274320"/>
          </a:xfrm>
          <a:prstGeom prst="ellipse">
            <a:avLst/>
          </a:prstGeom>
          <a:solidFill>
            <a:srgbClr val="112642"/>
          </a:solidFill>
          <a:ln w="12700">
            <a:solidFill>
              <a:srgbClr val="112642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4370832" y="2866644"/>
            <a:ext cx="274320" cy="91440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02</a:t>
            </a:r>
            <a:endParaRPr lang="en-US" sz="750" dirty="0"/>
          </a:p>
        </p:txBody>
      </p:sp>
      <p:sp>
        <p:nvSpPr>
          <p:cNvPr id="32" name="Text 30"/>
          <p:cNvSpPr/>
          <p:nvPr/>
        </p:nvSpPr>
        <p:spPr>
          <a:xfrm>
            <a:off x="4736592" y="2880360"/>
            <a:ext cx="2423160" cy="292608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450" b="1" dirty="0">
                <a:solidFill>
                  <a:srgbClr val="112642"/>
                </a:solidFill>
                <a:latin typeface="Georgia" panose="02040502050405020303" pitchFamily="34" charset="0"/>
                <a:ea typeface="Georgia" panose="02040502050405020303" pitchFamily="34" charset="-122"/>
                <a:cs typeface="Georgia" panose="02040502050405020303" pitchFamily="34" charset="-120"/>
              </a:rPr>
              <a:t>Карточка актива</a:t>
            </a:r>
            <a:endParaRPr lang="en-US" sz="1450" dirty="0"/>
          </a:p>
        </p:txBody>
      </p:sp>
      <p:sp>
        <p:nvSpPr>
          <p:cNvPr id="33" name="Text 31"/>
          <p:cNvSpPr/>
          <p:nvPr/>
        </p:nvSpPr>
        <p:spPr>
          <a:xfrm>
            <a:off x="4462272" y="3310128"/>
            <a:ext cx="2651760" cy="100584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040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Владелец, локация, стоимость, гарантия, история выдач и ремонтов.</a:t>
            </a:r>
            <a:endParaRPr lang="en-US" sz="1040" dirty="0"/>
          </a:p>
        </p:txBody>
      </p:sp>
      <p:sp>
        <p:nvSpPr>
          <p:cNvPr id="34" name="Shape 32"/>
          <p:cNvSpPr/>
          <p:nvPr/>
        </p:nvSpPr>
        <p:spPr>
          <a:xfrm>
            <a:off x="7882255" y="2651760"/>
            <a:ext cx="3154680" cy="1042035"/>
          </a:xfrm>
          <a:prstGeom prst="roundRect">
            <a:avLst>
              <a:gd name="adj" fmla="val 5729"/>
            </a:avLst>
          </a:prstGeom>
          <a:solidFill>
            <a:srgbClr val="FCFAF5"/>
          </a:solidFill>
          <a:ln w="9525">
            <a:solidFill>
              <a:srgbClr val="D9D1C3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8046720" y="2798064"/>
            <a:ext cx="274320" cy="274320"/>
          </a:xfrm>
          <a:prstGeom prst="ellipse">
            <a:avLst/>
          </a:prstGeom>
          <a:solidFill>
            <a:srgbClr val="112642"/>
          </a:solidFill>
          <a:ln w="12700">
            <a:solidFill>
              <a:srgbClr val="112642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8046720" y="2866644"/>
            <a:ext cx="274320" cy="91440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03</a:t>
            </a:r>
            <a:endParaRPr lang="en-US" sz="750" dirty="0"/>
          </a:p>
        </p:txBody>
      </p:sp>
      <p:sp>
        <p:nvSpPr>
          <p:cNvPr id="37" name="Text 35"/>
          <p:cNvSpPr/>
          <p:nvPr/>
        </p:nvSpPr>
        <p:spPr>
          <a:xfrm>
            <a:off x="8412480" y="2880360"/>
            <a:ext cx="2423160" cy="292608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450" b="1" dirty="0">
                <a:solidFill>
                  <a:srgbClr val="112642"/>
                </a:solidFill>
                <a:latin typeface="Georgia" panose="02040502050405020303" pitchFamily="34" charset="0"/>
                <a:ea typeface="Georgia" panose="02040502050405020303" pitchFamily="34" charset="-122"/>
                <a:cs typeface="Georgia" panose="02040502050405020303" pitchFamily="34" charset="-120"/>
              </a:rPr>
              <a:t>Выдачи и возвраты</a:t>
            </a:r>
            <a:endParaRPr lang="en-US" sz="1450" dirty="0"/>
          </a:p>
        </p:txBody>
      </p:sp>
      <p:sp>
        <p:nvSpPr>
          <p:cNvPr id="38" name="Text 36"/>
          <p:cNvSpPr/>
          <p:nvPr/>
        </p:nvSpPr>
        <p:spPr>
          <a:xfrm>
            <a:off x="8138160" y="3310128"/>
            <a:ext cx="2651760" cy="100584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040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Закрепление оборудования за сотрудником и контроль сроков возврата.</a:t>
            </a:r>
            <a:endParaRPr lang="en-US" sz="1040" dirty="0"/>
          </a:p>
        </p:txBody>
      </p:sp>
      <p:sp>
        <p:nvSpPr>
          <p:cNvPr id="39" name="Shape 37"/>
          <p:cNvSpPr/>
          <p:nvPr/>
        </p:nvSpPr>
        <p:spPr>
          <a:xfrm>
            <a:off x="530225" y="3730625"/>
            <a:ext cx="3154680" cy="1134110"/>
          </a:xfrm>
          <a:prstGeom prst="roundRect">
            <a:avLst>
              <a:gd name="adj" fmla="val 5729"/>
            </a:avLst>
          </a:prstGeom>
          <a:solidFill>
            <a:srgbClr val="FCFAF5"/>
          </a:solidFill>
          <a:ln w="9525">
            <a:solidFill>
              <a:srgbClr val="D9D1C3"/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694944" y="3877056"/>
            <a:ext cx="274320" cy="274320"/>
          </a:xfrm>
          <a:prstGeom prst="ellipse">
            <a:avLst/>
          </a:prstGeom>
          <a:solidFill>
            <a:srgbClr val="112642"/>
          </a:solidFill>
          <a:ln w="12700">
            <a:solidFill>
              <a:srgbClr val="112642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694944" y="3945636"/>
            <a:ext cx="274320" cy="91440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04</a:t>
            </a:r>
            <a:endParaRPr lang="en-US" sz="750" dirty="0"/>
          </a:p>
        </p:txBody>
      </p:sp>
      <p:sp>
        <p:nvSpPr>
          <p:cNvPr id="42" name="Text 40"/>
          <p:cNvSpPr/>
          <p:nvPr/>
        </p:nvSpPr>
        <p:spPr>
          <a:xfrm>
            <a:off x="1060704" y="3959352"/>
            <a:ext cx="2423160" cy="292608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450" b="1" dirty="0">
                <a:solidFill>
                  <a:srgbClr val="112642"/>
                </a:solidFill>
                <a:latin typeface="Georgia" panose="02040502050405020303" pitchFamily="34" charset="0"/>
                <a:ea typeface="Georgia" panose="02040502050405020303" pitchFamily="34" charset="-122"/>
                <a:cs typeface="Georgia" panose="02040502050405020303" pitchFamily="34" charset="-120"/>
              </a:rPr>
              <a:t>Ремонт и инвентаризация</a:t>
            </a:r>
            <a:endParaRPr lang="en-US" sz="1450" dirty="0"/>
          </a:p>
        </p:txBody>
      </p:sp>
      <p:sp>
        <p:nvSpPr>
          <p:cNvPr id="43" name="Text 41"/>
          <p:cNvSpPr/>
          <p:nvPr/>
        </p:nvSpPr>
        <p:spPr>
          <a:xfrm>
            <a:off x="786384" y="4389120"/>
            <a:ext cx="2651760" cy="100584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040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Заявки на ремонт и проверки фактического наличия оборудования.</a:t>
            </a:r>
            <a:endParaRPr lang="en-US" sz="1040" dirty="0"/>
          </a:p>
        </p:txBody>
      </p:sp>
      <p:sp>
        <p:nvSpPr>
          <p:cNvPr id="44" name="Shape 42"/>
          <p:cNvSpPr/>
          <p:nvPr/>
        </p:nvSpPr>
        <p:spPr>
          <a:xfrm>
            <a:off x="4206240" y="3730625"/>
            <a:ext cx="3154680" cy="1134110"/>
          </a:xfrm>
          <a:prstGeom prst="roundRect">
            <a:avLst>
              <a:gd name="adj" fmla="val 5729"/>
            </a:avLst>
          </a:prstGeom>
          <a:solidFill>
            <a:srgbClr val="FCFAF5"/>
          </a:solidFill>
          <a:ln w="9525">
            <a:solidFill>
              <a:srgbClr val="D9D1C3"/>
            </a:solidFill>
            <a:prstDash val="solid"/>
          </a:ln>
        </p:spPr>
      </p:sp>
      <p:sp>
        <p:nvSpPr>
          <p:cNvPr id="45" name="Shape 43"/>
          <p:cNvSpPr/>
          <p:nvPr/>
        </p:nvSpPr>
        <p:spPr>
          <a:xfrm>
            <a:off x="4370832" y="3877056"/>
            <a:ext cx="274320" cy="274320"/>
          </a:xfrm>
          <a:prstGeom prst="ellipse">
            <a:avLst/>
          </a:prstGeom>
          <a:solidFill>
            <a:srgbClr val="112642"/>
          </a:solidFill>
          <a:ln w="12700">
            <a:solidFill>
              <a:srgbClr val="112642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4370832" y="3945636"/>
            <a:ext cx="274320" cy="91440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05</a:t>
            </a:r>
            <a:endParaRPr lang="en-US" sz="750" dirty="0"/>
          </a:p>
        </p:txBody>
      </p:sp>
      <p:sp>
        <p:nvSpPr>
          <p:cNvPr id="47" name="Text 45"/>
          <p:cNvSpPr/>
          <p:nvPr/>
        </p:nvSpPr>
        <p:spPr>
          <a:xfrm>
            <a:off x="4736592" y="3959352"/>
            <a:ext cx="2423160" cy="292608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450" b="1" dirty="0">
                <a:solidFill>
                  <a:srgbClr val="112642"/>
                </a:solidFill>
                <a:latin typeface="Georgia" panose="02040502050405020303" pitchFamily="34" charset="0"/>
                <a:ea typeface="Georgia" panose="02040502050405020303" pitchFamily="34" charset="-122"/>
                <a:cs typeface="Georgia" panose="02040502050405020303" pitchFamily="34" charset="-120"/>
              </a:rPr>
              <a:t>Отчёты и Audit log</a:t>
            </a:r>
            <a:endParaRPr lang="en-US" sz="1450" dirty="0"/>
          </a:p>
        </p:txBody>
      </p:sp>
      <p:sp>
        <p:nvSpPr>
          <p:cNvPr id="48" name="Text 46"/>
          <p:cNvSpPr/>
          <p:nvPr/>
        </p:nvSpPr>
        <p:spPr>
          <a:xfrm>
            <a:off x="4462272" y="4389120"/>
            <a:ext cx="2651760" cy="100584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040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CSV/PDF-отчёты и журнал важных действий пользователей.</a:t>
            </a:r>
            <a:endParaRPr lang="en-US" sz="1040" dirty="0"/>
          </a:p>
        </p:txBody>
      </p:sp>
      <p:sp>
        <p:nvSpPr>
          <p:cNvPr id="49" name="Shape 47"/>
          <p:cNvSpPr/>
          <p:nvPr/>
        </p:nvSpPr>
        <p:spPr>
          <a:xfrm>
            <a:off x="7882255" y="3730625"/>
            <a:ext cx="3154680" cy="1134110"/>
          </a:xfrm>
          <a:prstGeom prst="roundRect">
            <a:avLst>
              <a:gd name="adj" fmla="val 5729"/>
            </a:avLst>
          </a:prstGeom>
          <a:solidFill>
            <a:srgbClr val="FCFAF5"/>
          </a:solidFill>
          <a:ln w="9525">
            <a:solidFill>
              <a:srgbClr val="D9D1C3"/>
            </a:solidFill>
            <a:prstDash val="solid"/>
          </a:ln>
        </p:spPr>
      </p:sp>
      <p:sp>
        <p:nvSpPr>
          <p:cNvPr id="50" name="Shape 48"/>
          <p:cNvSpPr/>
          <p:nvPr/>
        </p:nvSpPr>
        <p:spPr>
          <a:xfrm>
            <a:off x="8046720" y="3877056"/>
            <a:ext cx="274320" cy="274320"/>
          </a:xfrm>
          <a:prstGeom prst="ellipse">
            <a:avLst/>
          </a:prstGeom>
          <a:solidFill>
            <a:srgbClr val="112642"/>
          </a:solidFill>
          <a:ln w="12700">
            <a:solidFill>
              <a:srgbClr val="112642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8046720" y="3945636"/>
            <a:ext cx="274320" cy="91440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06</a:t>
            </a:r>
            <a:endParaRPr lang="en-US" sz="750" dirty="0"/>
          </a:p>
        </p:txBody>
      </p:sp>
      <p:sp>
        <p:nvSpPr>
          <p:cNvPr id="52" name="Text 50"/>
          <p:cNvSpPr/>
          <p:nvPr/>
        </p:nvSpPr>
        <p:spPr>
          <a:xfrm>
            <a:off x="8412480" y="3959352"/>
            <a:ext cx="2423160" cy="292608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450" b="1" dirty="0">
                <a:solidFill>
                  <a:srgbClr val="112642"/>
                </a:solidFill>
                <a:latin typeface="Georgia" panose="02040502050405020303" pitchFamily="34" charset="0"/>
                <a:ea typeface="Georgia" panose="02040502050405020303" pitchFamily="34" charset="-122"/>
                <a:cs typeface="Georgia" panose="02040502050405020303" pitchFamily="34" charset="-120"/>
              </a:rPr>
              <a:t>Профиль и настройки</a:t>
            </a:r>
            <a:endParaRPr lang="en-US" sz="1450" dirty="0"/>
          </a:p>
        </p:txBody>
      </p:sp>
      <p:sp>
        <p:nvSpPr>
          <p:cNvPr id="53" name="Text 51"/>
          <p:cNvSpPr/>
          <p:nvPr/>
        </p:nvSpPr>
        <p:spPr>
          <a:xfrm>
            <a:off x="8138160" y="4389120"/>
            <a:ext cx="2651760" cy="100584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040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Роль пользователя, сессия и настройки интерфейса.</a:t>
            </a:r>
            <a:endParaRPr lang="en-US" sz="1040" dirty="0"/>
          </a:p>
        </p:txBody>
      </p:sp>
      <p:sp>
        <p:nvSpPr>
          <p:cNvPr id="54" name="Shape 52"/>
          <p:cNvSpPr/>
          <p:nvPr/>
        </p:nvSpPr>
        <p:spPr>
          <a:xfrm>
            <a:off x="530352" y="5669280"/>
            <a:ext cx="9601200" cy="402336"/>
          </a:xfrm>
          <a:prstGeom prst="roundRect">
            <a:avLst>
              <a:gd name="adj" fmla="val 12500"/>
            </a:avLst>
          </a:prstGeom>
          <a:solidFill>
            <a:srgbClr val="FAF7EF"/>
          </a:solidFill>
          <a:ln w="9525">
            <a:solidFill>
              <a:srgbClr val="D9D1C3"/>
            </a:solidFill>
            <a:prstDash val="solid"/>
          </a:ln>
        </p:spPr>
      </p:sp>
      <p:sp>
        <p:nvSpPr>
          <p:cNvPr id="55" name="Text 53"/>
          <p:cNvSpPr/>
          <p:nvPr/>
        </p:nvSpPr>
        <p:spPr>
          <a:xfrm>
            <a:off x="768096" y="5806440"/>
            <a:ext cx="502920" cy="109728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020" b="1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Роли:</a:t>
            </a:r>
            <a:endParaRPr lang="en-US" sz="1020" dirty="0"/>
          </a:p>
        </p:txBody>
      </p:sp>
      <p:sp>
        <p:nvSpPr>
          <p:cNvPr id="56" name="Shape 54"/>
          <p:cNvSpPr/>
          <p:nvPr/>
        </p:nvSpPr>
        <p:spPr>
          <a:xfrm>
            <a:off x="1325880" y="5742432"/>
            <a:ext cx="1234440" cy="256032"/>
          </a:xfrm>
          <a:prstGeom prst="roundRect">
            <a:avLst>
              <a:gd name="adj" fmla="val 17857"/>
            </a:avLst>
          </a:prstGeom>
          <a:solidFill>
            <a:srgbClr val="F7F9FC"/>
          </a:solidFill>
          <a:ln w="7620">
            <a:solidFill>
              <a:srgbClr val="C7D3E3"/>
            </a:solidFill>
            <a:prstDash val="solid"/>
          </a:ln>
        </p:spPr>
      </p:sp>
      <p:sp>
        <p:nvSpPr>
          <p:cNvPr id="57" name="Text 55"/>
          <p:cNvSpPr/>
          <p:nvPr/>
        </p:nvSpPr>
        <p:spPr>
          <a:xfrm>
            <a:off x="1325880" y="5811012"/>
            <a:ext cx="1234440" cy="91440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buNone/>
            </a:pPr>
            <a:r>
              <a:rPr lang="en-US" sz="710" b="1" dirty="0">
                <a:solidFill>
                  <a:srgbClr val="11264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ADMIN</a:t>
            </a:r>
            <a:endParaRPr lang="en-US" sz="710" dirty="0"/>
          </a:p>
        </p:txBody>
      </p:sp>
      <p:sp>
        <p:nvSpPr>
          <p:cNvPr id="58" name="Shape 56"/>
          <p:cNvSpPr/>
          <p:nvPr/>
        </p:nvSpPr>
        <p:spPr>
          <a:xfrm>
            <a:off x="2743200" y="5742432"/>
            <a:ext cx="1234440" cy="256032"/>
          </a:xfrm>
          <a:prstGeom prst="roundRect">
            <a:avLst>
              <a:gd name="adj" fmla="val 17857"/>
            </a:avLst>
          </a:prstGeom>
          <a:solidFill>
            <a:srgbClr val="F7F9FC"/>
          </a:solidFill>
          <a:ln w="7620">
            <a:solidFill>
              <a:srgbClr val="C7D3E3"/>
            </a:solidFill>
            <a:prstDash val="solid"/>
          </a:ln>
        </p:spPr>
      </p:sp>
      <p:sp>
        <p:nvSpPr>
          <p:cNvPr id="59" name="Text 57"/>
          <p:cNvSpPr/>
          <p:nvPr/>
        </p:nvSpPr>
        <p:spPr>
          <a:xfrm>
            <a:off x="2743200" y="5811012"/>
            <a:ext cx="1234440" cy="91440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buNone/>
            </a:pPr>
            <a:r>
              <a:rPr lang="en-US" sz="710" b="1" dirty="0">
                <a:solidFill>
                  <a:srgbClr val="11264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MANAGER</a:t>
            </a:r>
            <a:endParaRPr lang="en-US" sz="710" dirty="0"/>
          </a:p>
        </p:txBody>
      </p:sp>
      <p:sp>
        <p:nvSpPr>
          <p:cNvPr id="60" name="Shape 58"/>
          <p:cNvSpPr/>
          <p:nvPr/>
        </p:nvSpPr>
        <p:spPr>
          <a:xfrm>
            <a:off x="4160520" y="5742432"/>
            <a:ext cx="1234440" cy="256032"/>
          </a:xfrm>
          <a:prstGeom prst="roundRect">
            <a:avLst>
              <a:gd name="adj" fmla="val 17857"/>
            </a:avLst>
          </a:prstGeom>
          <a:solidFill>
            <a:srgbClr val="F7F9FC"/>
          </a:solidFill>
          <a:ln w="7620">
            <a:solidFill>
              <a:srgbClr val="C7D3E3"/>
            </a:solidFill>
            <a:prstDash val="solid"/>
          </a:ln>
        </p:spPr>
      </p:sp>
      <p:sp>
        <p:nvSpPr>
          <p:cNvPr id="61" name="Text 59"/>
          <p:cNvSpPr/>
          <p:nvPr/>
        </p:nvSpPr>
        <p:spPr>
          <a:xfrm>
            <a:off x="4160520" y="5811012"/>
            <a:ext cx="1234440" cy="91440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buNone/>
            </a:pPr>
            <a:r>
              <a:rPr lang="en-US" sz="710" b="1" dirty="0">
                <a:solidFill>
                  <a:srgbClr val="11264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INVENTORY</a:t>
            </a:r>
            <a:endParaRPr lang="en-US" sz="710" dirty="0"/>
          </a:p>
        </p:txBody>
      </p:sp>
      <p:sp>
        <p:nvSpPr>
          <p:cNvPr id="62" name="Shape 60"/>
          <p:cNvSpPr/>
          <p:nvPr/>
        </p:nvSpPr>
        <p:spPr>
          <a:xfrm>
            <a:off x="5577840" y="5742432"/>
            <a:ext cx="1234440" cy="256032"/>
          </a:xfrm>
          <a:prstGeom prst="roundRect">
            <a:avLst>
              <a:gd name="adj" fmla="val 17857"/>
            </a:avLst>
          </a:prstGeom>
          <a:solidFill>
            <a:srgbClr val="F7F9FC"/>
          </a:solidFill>
          <a:ln w="7620">
            <a:solidFill>
              <a:srgbClr val="C7D3E3"/>
            </a:solidFill>
            <a:prstDash val="solid"/>
          </a:ln>
        </p:spPr>
      </p:sp>
      <p:sp>
        <p:nvSpPr>
          <p:cNvPr id="63" name="Text 61"/>
          <p:cNvSpPr/>
          <p:nvPr/>
        </p:nvSpPr>
        <p:spPr>
          <a:xfrm>
            <a:off x="5577840" y="5811012"/>
            <a:ext cx="1234440" cy="91440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buNone/>
            </a:pPr>
            <a:r>
              <a:rPr lang="en-US" sz="710" b="1" dirty="0">
                <a:solidFill>
                  <a:srgbClr val="11264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EMPLOYEE</a:t>
            </a:r>
            <a:endParaRPr lang="en-US" sz="710" dirty="0"/>
          </a:p>
        </p:txBody>
      </p:sp>
      <p:sp>
        <p:nvSpPr>
          <p:cNvPr id="64" name="Shape 62"/>
          <p:cNvSpPr/>
          <p:nvPr/>
        </p:nvSpPr>
        <p:spPr>
          <a:xfrm>
            <a:off x="6995160" y="5742432"/>
            <a:ext cx="1234440" cy="256032"/>
          </a:xfrm>
          <a:prstGeom prst="roundRect">
            <a:avLst>
              <a:gd name="adj" fmla="val 17857"/>
            </a:avLst>
          </a:prstGeom>
          <a:solidFill>
            <a:srgbClr val="F7F9FC"/>
          </a:solidFill>
          <a:ln w="7620">
            <a:solidFill>
              <a:srgbClr val="C7D3E3"/>
            </a:solidFill>
            <a:prstDash val="solid"/>
          </a:ln>
        </p:spPr>
      </p:sp>
      <p:sp>
        <p:nvSpPr>
          <p:cNvPr id="65" name="Text 63"/>
          <p:cNvSpPr/>
          <p:nvPr/>
        </p:nvSpPr>
        <p:spPr>
          <a:xfrm>
            <a:off x="6995160" y="5811012"/>
            <a:ext cx="1234440" cy="91440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buNone/>
            </a:pPr>
            <a:r>
              <a:rPr lang="en-US" sz="710" b="1" dirty="0">
                <a:solidFill>
                  <a:srgbClr val="11264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AUDITOR</a:t>
            </a:r>
            <a:endParaRPr lang="en-US" sz="710" dirty="0"/>
          </a:p>
        </p:txBody>
      </p:sp>
      <p:sp>
        <p:nvSpPr>
          <p:cNvPr id="66" name="Shape 64"/>
          <p:cNvSpPr/>
          <p:nvPr/>
        </p:nvSpPr>
        <p:spPr>
          <a:xfrm>
            <a:off x="8412480" y="5742432"/>
            <a:ext cx="1234440" cy="256032"/>
          </a:xfrm>
          <a:prstGeom prst="roundRect">
            <a:avLst>
              <a:gd name="adj" fmla="val 17857"/>
            </a:avLst>
          </a:prstGeom>
          <a:solidFill>
            <a:srgbClr val="F7F9FC"/>
          </a:solidFill>
          <a:ln w="7620">
            <a:solidFill>
              <a:srgbClr val="C7D3E3"/>
            </a:solidFill>
            <a:prstDash val="solid"/>
          </a:ln>
        </p:spPr>
      </p:sp>
      <p:sp>
        <p:nvSpPr>
          <p:cNvPr id="67" name="Text 65"/>
          <p:cNvSpPr/>
          <p:nvPr/>
        </p:nvSpPr>
        <p:spPr>
          <a:xfrm>
            <a:off x="8412480" y="5811012"/>
            <a:ext cx="1234440" cy="91440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buNone/>
            </a:pPr>
            <a:r>
              <a:rPr lang="en-US" sz="710" b="1" dirty="0">
                <a:solidFill>
                  <a:srgbClr val="11264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VIEWER</a:t>
            </a:r>
            <a:endParaRPr lang="en-US" sz="71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3E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228600" y="182880"/>
            <a:ext cx="11734495" cy="6492240"/>
          </a:xfrm>
          <a:prstGeom prst="roundRect">
            <a:avLst>
              <a:gd name="adj" fmla="val 704"/>
            </a:avLst>
          </a:prstGeom>
          <a:solidFill>
            <a:srgbClr val="F7F3EC">
              <a:alpha val="0"/>
            </a:srgbClr>
          </a:solidFill>
          <a:ln w="9525">
            <a:solidFill>
              <a:srgbClr val="D9D1C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1533327" y="384048"/>
            <a:ext cx="329184" cy="1828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50" dirty="0">
                <a:solidFill>
                  <a:srgbClr val="11264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05</a:t>
            </a:r>
            <a:endParaRPr lang="en-US" sz="1050" dirty="0"/>
          </a:p>
        </p:txBody>
      </p:sp>
      <p:sp>
        <p:nvSpPr>
          <p:cNvPr id="4" name="Text 2"/>
          <p:cNvSpPr/>
          <p:nvPr/>
        </p:nvSpPr>
        <p:spPr>
          <a:xfrm>
            <a:off x="530352" y="566928"/>
            <a:ext cx="3657600" cy="201168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850" b="1" dirty="0">
                <a:solidFill>
                  <a:srgbClr val="7A726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АНАЛИТИКА И KPI</a:t>
            </a:r>
            <a:endParaRPr lang="en-US" sz="850" dirty="0"/>
          </a:p>
        </p:txBody>
      </p:sp>
      <p:sp>
        <p:nvSpPr>
          <p:cNvPr id="5" name="Text 3"/>
          <p:cNvSpPr/>
          <p:nvPr/>
        </p:nvSpPr>
        <p:spPr>
          <a:xfrm>
            <a:off x="530352" y="877824"/>
            <a:ext cx="4206240" cy="658368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3200" b="1" dirty="0">
                <a:solidFill>
                  <a:srgbClr val="112642"/>
                </a:solidFill>
                <a:latin typeface="Georgia" panose="02040502050405020303" pitchFamily="34" charset="0"/>
                <a:ea typeface="Georgia" panose="02040502050405020303" pitchFamily="34" charset="-122"/>
                <a:cs typeface="Georgia" panose="02040502050405020303" pitchFamily="34" charset="-120"/>
              </a:rPr>
              <a:t>Операционный dashboard</a:t>
            </a:r>
            <a:endParaRPr lang="en-US" sz="3200" dirty="0"/>
          </a:p>
        </p:txBody>
      </p:sp>
      <p:sp>
        <p:nvSpPr>
          <p:cNvPr id="6" name="Shape 4"/>
          <p:cNvSpPr/>
          <p:nvPr/>
        </p:nvSpPr>
        <p:spPr>
          <a:xfrm>
            <a:off x="530352" y="1591056"/>
            <a:ext cx="457200" cy="22860"/>
          </a:xfrm>
          <a:prstGeom prst="rect">
            <a:avLst/>
          </a:prstGeom>
          <a:solidFill>
            <a:srgbClr val="112642"/>
          </a:solidFill>
          <a:ln w="12700">
            <a:solidFill>
              <a:srgbClr val="112642">
                <a:alpha val="0"/>
              </a:srgbClr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48640" y="1783080"/>
            <a:ext cx="3931920" cy="310896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350" dirty="0">
                <a:solidFill>
                  <a:srgbClr val="111827"/>
                </a:solidFill>
                <a:latin typeface="Georgia" panose="02040502050405020303" pitchFamily="34" charset="0"/>
                <a:ea typeface="Georgia" panose="02040502050405020303" pitchFamily="34" charset="-122"/>
                <a:cs typeface="Georgia" panose="02040502050405020303" pitchFamily="34" charset="-120"/>
              </a:rPr>
              <a:t>Главный экран сразу показывает состояние активов и риски системы.</a:t>
            </a:r>
            <a:endParaRPr lang="en-US" sz="1350" dirty="0"/>
          </a:p>
        </p:txBody>
      </p:sp>
      <p:sp>
        <p:nvSpPr>
          <p:cNvPr id="8" name="Shape 6"/>
          <p:cNvSpPr/>
          <p:nvPr/>
        </p:nvSpPr>
        <p:spPr>
          <a:xfrm>
            <a:off x="548640" y="2377440"/>
            <a:ext cx="1234440" cy="640080"/>
          </a:xfrm>
          <a:prstGeom prst="roundRect">
            <a:avLst>
              <a:gd name="adj" fmla="val 7857"/>
            </a:avLst>
          </a:prstGeom>
          <a:solidFill>
            <a:srgbClr val="FCFAF5"/>
          </a:solidFill>
          <a:ln w="9525">
            <a:solidFill>
              <a:srgbClr val="D9D1C3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76656" y="2496312"/>
            <a:ext cx="978408" cy="137160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720" b="1" dirty="0">
                <a:solidFill>
                  <a:srgbClr val="7A726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АКТИВЫ</a:t>
            </a:r>
            <a:endParaRPr lang="en-US" sz="720" dirty="0"/>
          </a:p>
        </p:txBody>
      </p:sp>
      <p:sp>
        <p:nvSpPr>
          <p:cNvPr id="10" name="Text 8"/>
          <p:cNvSpPr/>
          <p:nvPr/>
        </p:nvSpPr>
        <p:spPr>
          <a:xfrm>
            <a:off x="676656" y="2715768"/>
            <a:ext cx="978408" cy="164592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111827"/>
                </a:solidFill>
                <a:latin typeface="Georgia" panose="02040502050405020303" pitchFamily="34" charset="0"/>
                <a:ea typeface="Georgia" panose="02040502050405020303" pitchFamily="34" charset="-122"/>
                <a:cs typeface="Georgia" panose="02040502050405020303" pitchFamily="34" charset="-120"/>
              </a:rPr>
              <a:t>36</a:t>
            </a:r>
            <a:endParaRPr lang="en-US" sz="1500" dirty="0"/>
          </a:p>
        </p:txBody>
      </p:sp>
      <p:sp>
        <p:nvSpPr>
          <p:cNvPr id="11" name="Shape 9"/>
          <p:cNvSpPr/>
          <p:nvPr/>
        </p:nvSpPr>
        <p:spPr>
          <a:xfrm>
            <a:off x="1920240" y="2377440"/>
            <a:ext cx="1234440" cy="640080"/>
          </a:xfrm>
          <a:prstGeom prst="roundRect">
            <a:avLst>
              <a:gd name="adj" fmla="val 7857"/>
            </a:avLst>
          </a:prstGeom>
          <a:solidFill>
            <a:srgbClr val="E9F3EC"/>
          </a:solidFill>
          <a:ln w="9525">
            <a:solidFill>
              <a:srgbClr val="D9D1C3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2048256" y="2496312"/>
            <a:ext cx="978408" cy="137160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720" b="1" dirty="0">
                <a:solidFill>
                  <a:srgbClr val="7A726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ДОСТУПНО</a:t>
            </a:r>
            <a:endParaRPr lang="en-US" sz="720" dirty="0"/>
          </a:p>
        </p:txBody>
      </p:sp>
      <p:sp>
        <p:nvSpPr>
          <p:cNvPr id="13" name="Text 11"/>
          <p:cNvSpPr/>
          <p:nvPr/>
        </p:nvSpPr>
        <p:spPr>
          <a:xfrm>
            <a:off x="2048256" y="2715768"/>
            <a:ext cx="978408" cy="164592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111827"/>
                </a:solidFill>
                <a:latin typeface="Georgia" panose="02040502050405020303" pitchFamily="34" charset="0"/>
                <a:ea typeface="Georgia" panose="02040502050405020303" pitchFamily="34" charset="-122"/>
                <a:cs typeface="Georgia" panose="02040502050405020303" pitchFamily="34" charset="-120"/>
              </a:rPr>
              <a:t>14</a:t>
            </a:r>
            <a:endParaRPr lang="en-US" sz="1500" dirty="0"/>
          </a:p>
        </p:txBody>
      </p:sp>
      <p:sp>
        <p:nvSpPr>
          <p:cNvPr id="14" name="Shape 12"/>
          <p:cNvSpPr/>
          <p:nvPr/>
        </p:nvSpPr>
        <p:spPr>
          <a:xfrm>
            <a:off x="3291840" y="2377440"/>
            <a:ext cx="1234440" cy="640080"/>
          </a:xfrm>
          <a:prstGeom prst="roundRect">
            <a:avLst>
              <a:gd name="adj" fmla="val 7857"/>
            </a:avLst>
          </a:prstGeom>
          <a:solidFill>
            <a:srgbClr val="F0EAF6"/>
          </a:solidFill>
          <a:ln w="9525">
            <a:solidFill>
              <a:srgbClr val="D9D1C3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419856" y="2496312"/>
            <a:ext cx="978408" cy="137160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720" b="1" dirty="0">
                <a:solidFill>
                  <a:srgbClr val="7A726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РЕМОНТ</a:t>
            </a:r>
            <a:endParaRPr lang="en-US" sz="720" dirty="0"/>
          </a:p>
        </p:txBody>
      </p:sp>
      <p:sp>
        <p:nvSpPr>
          <p:cNvPr id="16" name="Text 14"/>
          <p:cNvSpPr/>
          <p:nvPr/>
        </p:nvSpPr>
        <p:spPr>
          <a:xfrm>
            <a:off x="3419856" y="2715768"/>
            <a:ext cx="978408" cy="164592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111827"/>
                </a:solidFill>
                <a:latin typeface="Georgia" panose="02040502050405020303" pitchFamily="34" charset="0"/>
                <a:ea typeface="Georgia" panose="02040502050405020303" pitchFamily="34" charset="-122"/>
                <a:cs typeface="Georgia" panose="02040502050405020303" pitchFamily="34" charset="-120"/>
              </a:rPr>
              <a:t>3</a:t>
            </a:r>
            <a:endParaRPr lang="en-US" sz="1500" dirty="0"/>
          </a:p>
        </p:txBody>
      </p:sp>
      <p:sp>
        <p:nvSpPr>
          <p:cNvPr id="17" name="Shape 15"/>
          <p:cNvSpPr/>
          <p:nvPr/>
        </p:nvSpPr>
        <p:spPr>
          <a:xfrm>
            <a:off x="548640" y="3246120"/>
            <a:ext cx="1234440" cy="640080"/>
          </a:xfrm>
          <a:prstGeom prst="roundRect">
            <a:avLst>
              <a:gd name="adj" fmla="val 7857"/>
            </a:avLst>
          </a:prstGeom>
          <a:solidFill>
            <a:srgbClr val="F5E7E7"/>
          </a:solidFill>
          <a:ln w="9525">
            <a:solidFill>
              <a:srgbClr val="D9D1C3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76656" y="3364992"/>
            <a:ext cx="978408" cy="137160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720" b="1" dirty="0">
                <a:solidFill>
                  <a:srgbClr val="7A726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ПРОСРОЧЕНО</a:t>
            </a:r>
            <a:endParaRPr lang="en-US" sz="720" dirty="0"/>
          </a:p>
        </p:txBody>
      </p:sp>
      <p:sp>
        <p:nvSpPr>
          <p:cNvPr id="19" name="Text 17"/>
          <p:cNvSpPr/>
          <p:nvPr/>
        </p:nvSpPr>
        <p:spPr>
          <a:xfrm>
            <a:off x="676656" y="3584448"/>
            <a:ext cx="978408" cy="164592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111827"/>
                </a:solidFill>
                <a:latin typeface="Georgia" panose="02040502050405020303" pitchFamily="34" charset="0"/>
                <a:ea typeface="Georgia" panose="02040502050405020303" pitchFamily="34" charset="-122"/>
                <a:cs typeface="Georgia" panose="02040502050405020303" pitchFamily="34" charset="-120"/>
              </a:rPr>
              <a:t>3</a:t>
            </a:r>
            <a:endParaRPr lang="en-US" sz="1500" dirty="0"/>
          </a:p>
        </p:txBody>
      </p:sp>
      <p:sp>
        <p:nvSpPr>
          <p:cNvPr id="20" name="Shape 18"/>
          <p:cNvSpPr/>
          <p:nvPr/>
        </p:nvSpPr>
        <p:spPr>
          <a:xfrm>
            <a:off x="1920240" y="3246120"/>
            <a:ext cx="1234440" cy="640080"/>
          </a:xfrm>
          <a:prstGeom prst="roundRect">
            <a:avLst>
              <a:gd name="adj" fmla="val 7857"/>
            </a:avLst>
          </a:prstGeom>
          <a:solidFill>
            <a:srgbClr val="F5E7E7"/>
          </a:solidFill>
          <a:ln w="9525">
            <a:solidFill>
              <a:srgbClr val="D9D1C3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2048256" y="3364992"/>
            <a:ext cx="978408" cy="137160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720" b="1" dirty="0">
                <a:solidFill>
                  <a:srgbClr val="7A726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ПОТЕРЯНО</a:t>
            </a:r>
            <a:endParaRPr lang="en-US" sz="720" dirty="0"/>
          </a:p>
        </p:txBody>
      </p:sp>
      <p:sp>
        <p:nvSpPr>
          <p:cNvPr id="22" name="Text 20"/>
          <p:cNvSpPr/>
          <p:nvPr/>
        </p:nvSpPr>
        <p:spPr>
          <a:xfrm>
            <a:off x="2048256" y="3584448"/>
            <a:ext cx="978408" cy="164592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111827"/>
                </a:solidFill>
                <a:latin typeface="Georgia" panose="02040502050405020303" pitchFamily="34" charset="0"/>
                <a:ea typeface="Georgia" panose="02040502050405020303" pitchFamily="34" charset="-122"/>
                <a:cs typeface="Georgia" panose="02040502050405020303" pitchFamily="34" charset="-120"/>
              </a:rPr>
              <a:t>2</a:t>
            </a:r>
            <a:endParaRPr lang="en-US" sz="1500" dirty="0"/>
          </a:p>
        </p:txBody>
      </p:sp>
      <p:sp>
        <p:nvSpPr>
          <p:cNvPr id="23" name="Shape 21"/>
          <p:cNvSpPr/>
          <p:nvPr/>
        </p:nvSpPr>
        <p:spPr>
          <a:xfrm>
            <a:off x="3291840" y="3246120"/>
            <a:ext cx="1234440" cy="640080"/>
          </a:xfrm>
          <a:prstGeom prst="roundRect">
            <a:avLst>
              <a:gd name="adj" fmla="val 7857"/>
            </a:avLst>
          </a:prstGeom>
          <a:solidFill>
            <a:srgbClr val="EAF0F8"/>
          </a:solidFill>
          <a:ln w="9525">
            <a:solidFill>
              <a:srgbClr val="D9D1C3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3419856" y="3364992"/>
            <a:ext cx="978408" cy="137160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720" b="1" dirty="0">
                <a:solidFill>
                  <a:srgbClr val="7A726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СТОИМОСТЬ</a:t>
            </a:r>
            <a:endParaRPr lang="en-US" sz="720" dirty="0"/>
          </a:p>
        </p:txBody>
      </p:sp>
      <p:sp>
        <p:nvSpPr>
          <p:cNvPr id="25" name="Text 23"/>
          <p:cNvSpPr/>
          <p:nvPr/>
        </p:nvSpPr>
        <p:spPr>
          <a:xfrm>
            <a:off x="3419856" y="3584448"/>
            <a:ext cx="978408" cy="164592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111827"/>
                </a:solidFill>
                <a:latin typeface="Georgia" panose="02040502050405020303" pitchFamily="34" charset="0"/>
                <a:ea typeface="Georgia" panose="02040502050405020303" pitchFamily="34" charset="-122"/>
                <a:cs typeface="Georgia" panose="02040502050405020303" pitchFamily="34" charset="-120"/>
              </a:rPr>
              <a:t>12 973k ₸</a:t>
            </a:r>
            <a:endParaRPr lang="en-US" sz="1500" dirty="0"/>
          </a:p>
        </p:txBody>
      </p:sp>
      <p:sp>
        <p:nvSpPr>
          <p:cNvPr id="26" name="Shape 24"/>
          <p:cNvSpPr/>
          <p:nvPr/>
        </p:nvSpPr>
        <p:spPr>
          <a:xfrm>
            <a:off x="548640" y="4325112"/>
            <a:ext cx="256032" cy="256032"/>
          </a:xfrm>
          <a:prstGeom prst="ellipse">
            <a:avLst/>
          </a:prstGeom>
          <a:solidFill>
            <a:srgbClr val="112642"/>
          </a:solidFill>
          <a:ln w="12700">
            <a:solidFill>
              <a:srgbClr val="112642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548640" y="4393692"/>
            <a:ext cx="256032" cy="91440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</a:t>
            </a:r>
            <a:endParaRPr lang="en-US" sz="750" dirty="0"/>
          </a:p>
        </p:txBody>
      </p:sp>
      <p:sp>
        <p:nvSpPr>
          <p:cNvPr id="28" name="Text 26"/>
          <p:cNvSpPr/>
          <p:nvPr/>
        </p:nvSpPr>
        <p:spPr>
          <a:xfrm>
            <a:off x="932688" y="4297680"/>
            <a:ext cx="3959352" cy="201168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320" b="1" dirty="0">
                <a:solidFill>
                  <a:srgbClr val="112642"/>
                </a:solidFill>
                <a:latin typeface="Georgia" panose="02040502050405020303" pitchFamily="34" charset="0"/>
                <a:ea typeface="Georgia" panose="02040502050405020303" pitchFamily="34" charset="-122"/>
                <a:cs typeface="Georgia" panose="02040502050405020303" pitchFamily="34" charset="-120"/>
              </a:rPr>
              <a:t>Баланс</a:t>
            </a:r>
            <a:endParaRPr lang="en-US" sz="1320" dirty="0"/>
          </a:p>
        </p:txBody>
      </p:sp>
      <p:sp>
        <p:nvSpPr>
          <p:cNvPr id="29" name="Text 27"/>
          <p:cNvSpPr/>
          <p:nvPr/>
        </p:nvSpPr>
        <p:spPr>
          <a:xfrm>
            <a:off x="932688" y="4553712"/>
            <a:ext cx="3959352" cy="502920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000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Активы, доступные позиции и оборудование в ремонте.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>
            <a:off x="548640" y="5349240"/>
            <a:ext cx="256032" cy="256032"/>
          </a:xfrm>
          <a:prstGeom prst="ellipse">
            <a:avLst/>
          </a:prstGeom>
          <a:solidFill>
            <a:srgbClr val="112642"/>
          </a:solidFill>
          <a:ln w="12700">
            <a:solidFill>
              <a:srgbClr val="112642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548640" y="5417820"/>
            <a:ext cx="256032" cy="91440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</a:t>
            </a:r>
            <a:endParaRPr lang="en-US" sz="750" dirty="0"/>
          </a:p>
        </p:txBody>
      </p:sp>
      <p:sp>
        <p:nvSpPr>
          <p:cNvPr id="32" name="Text 30"/>
          <p:cNvSpPr/>
          <p:nvPr/>
        </p:nvSpPr>
        <p:spPr>
          <a:xfrm>
            <a:off x="932688" y="5321808"/>
            <a:ext cx="3959352" cy="201168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320" b="1" dirty="0">
                <a:solidFill>
                  <a:srgbClr val="112642"/>
                </a:solidFill>
                <a:latin typeface="Georgia" panose="02040502050405020303" pitchFamily="34" charset="0"/>
                <a:ea typeface="Georgia" panose="02040502050405020303" pitchFamily="34" charset="-122"/>
                <a:cs typeface="Georgia" panose="02040502050405020303" pitchFamily="34" charset="-120"/>
              </a:rPr>
              <a:t>Проблемы</a:t>
            </a:r>
            <a:endParaRPr lang="en-US" sz="1320" dirty="0"/>
          </a:p>
        </p:txBody>
      </p:sp>
      <p:sp>
        <p:nvSpPr>
          <p:cNvPr id="33" name="Text 31"/>
          <p:cNvSpPr/>
          <p:nvPr/>
        </p:nvSpPr>
        <p:spPr>
          <a:xfrm>
            <a:off x="932688" y="5577840"/>
            <a:ext cx="3959352" cy="502920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000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Просрочки, критичные ремонты и списанные позиции.</a:t>
            </a:r>
            <a:endParaRPr lang="en-US" sz="1000" dirty="0"/>
          </a:p>
        </p:txBody>
      </p:sp>
      <p:sp>
        <p:nvSpPr>
          <p:cNvPr id="34" name="Shape 32"/>
          <p:cNvSpPr/>
          <p:nvPr/>
        </p:nvSpPr>
        <p:spPr>
          <a:xfrm>
            <a:off x="5074920" y="731520"/>
            <a:ext cx="6263640" cy="5394960"/>
          </a:xfrm>
          <a:prstGeom prst="roundRect">
            <a:avLst>
              <a:gd name="adj" fmla="val 932"/>
            </a:avLst>
          </a:prstGeom>
          <a:solidFill>
            <a:srgbClr val="FCFAF5"/>
          </a:solidFill>
          <a:ln w="9525">
            <a:solidFill>
              <a:srgbClr val="D9D1C3"/>
            </a:solidFill>
            <a:prstDash val="solid"/>
          </a:ln>
          <a:effectLst>
            <a:outerShdw blurRad="25400" dist="50800" dir="2700000" algn="bl" rotWithShape="0">
              <a:srgbClr val="C8BFAF">
                <a:alpha val="13000"/>
              </a:srgbClr>
            </a:outerShdw>
          </a:effectLst>
        </p:spPr>
      </p:sp>
      <p:pic>
        <p:nvPicPr>
          <p:cNvPr id="35" name="Image 0" descr="/mnt/data/01-dashboard(1)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756006" y="804672"/>
            <a:ext cx="4901469" cy="5248656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3E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228600" y="182880"/>
            <a:ext cx="11734495" cy="6492240"/>
          </a:xfrm>
          <a:prstGeom prst="roundRect">
            <a:avLst>
              <a:gd name="adj" fmla="val 704"/>
            </a:avLst>
          </a:prstGeom>
          <a:solidFill>
            <a:srgbClr val="F7F3EC">
              <a:alpha val="0"/>
            </a:srgbClr>
          </a:solidFill>
          <a:ln w="9525">
            <a:solidFill>
              <a:srgbClr val="D9D1C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1533327" y="384048"/>
            <a:ext cx="329184" cy="1828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50" dirty="0">
                <a:solidFill>
                  <a:srgbClr val="11264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06</a:t>
            </a:r>
            <a:endParaRPr lang="en-US" sz="1050" dirty="0"/>
          </a:p>
        </p:txBody>
      </p:sp>
      <p:sp>
        <p:nvSpPr>
          <p:cNvPr id="4" name="Text 2"/>
          <p:cNvSpPr/>
          <p:nvPr/>
        </p:nvSpPr>
        <p:spPr>
          <a:xfrm>
            <a:off x="530352" y="566928"/>
            <a:ext cx="3657600" cy="201168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850" b="1" dirty="0">
                <a:solidFill>
                  <a:srgbClr val="7A726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ЯДРО СИСТЕМЫ</a:t>
            </a:r>
            <a:endParaRPr lang="en-US" sz="850" dirty="0"/>
          </a:p>
        </p:txBody>
      </p:sp>
      <p:sp>
        <p:nvSpPr>
          <p:cNvPr id="5" name="Text 3"/>
          <p:cNvSpPr/>
          <p:nvPr/>
        </p:nvSpPr>
        <p:spPr>
          <a:xfrm>
            <a:off x="530352" y="804672"/>
            <a:ext cx="6492240" cy="1051560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3100" b="1" dirty="0">
                <a:solidFill>
                  <a:srgbClr val="112642"/>
                </a:solidFill>
                <a:latin typeface="Georgia" panose="02040502050405020303" pitchFamily="34" charset="0"/>
                <a:ea typeface="Georgia" panose="02040502050405020303" pitchFamily="34" charset="-122"/>
                <a:cs typeface="Georgia" panose="02040502050405020303" pitchFamily="34" charset="-120"/>
              </a:rPr>
              <a:t>Реестр оборудования</a:t>
            </a:r>
            <a:endParaRPr lang="en-US" sz="3100" dirty="0"/>
          </a:p>
          <a:p>
            <a:pPr marL="0" indent="0" algn="l">
              <a:buNone/>
            </a:pPr>
            <a:r>
              <a:rPr lang="en-US" sz="3100" b="1" dirty="0">
                <a:solidFill>
                  <a:srgbClr val="112642"/>
                </a:solidFill>
                <a:latin typeface="Georgia" panose="02040502050405020303" pitchFamily="34" charset="0"/>
                <a:ea typeface="Georgia" panose="02040502050405020303" pitchFamily="34" charset="-122"/>
                <a:cs typeface="Georgia" panose="02040502050405020303" pitchFamily="34" charset="-120"/>
              </a:rPr>
              <a:t>и карточка актива</a:t>
            </a:r>
            <a:endParaRPr lang="en-US" sz="3100" dirty="0"/>
          </a:p>
        </p:txBody>
      </p:sp>
      <p:sp>
        <p:nvSpPr>
          <p:cNvPr id="6" name="Shape 4"/>
          <p:cNvSpPr/>
          <p:nvPr/>
        </p:nvSpPr>
        <p:spPr>
          <a:xfrm>
            <a:off x="530352" y="1911096"/>
            <a:ext cx="457200" cy="22860"/>
          </a:xfrm>
          <a:prstGeom prst="rect">
            <a:avLst/>
          </a:prstGeom>
          <a:solidFill>
            <a:srgbClr val="112642"/>
          </a:solidFill>
          <a:ln w="12700">
            <a:solidFill>
              <a:srgbClr val="112642">
                <a:alpha val="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621792" y="2084832"/>
            <a:ext cx="5303520" cy="3886200"/>
          </a:xfrm>
          <a:prstGeom prst="roundRect">
            <a:avLst>
              <a:gd name="adj" fmla="val 1294"/>
            </a:avLst>
          </a:prstGeom>
          <a:solidFill>
            <a:srgbClr val="FCFAF5"/>
          </a:solidFill>
          <a:ln w="9525">
            <a:solidFill>
              <a:srgbClr val="D9D1C3"/>
            </a:solidFill>
            <a:prstDash val="solid"/>
          </a:ln>
          <a:effectLst>
            <a:outerShdw blurRad="25400" dist="50800" dir="2700000" algn="bl" rotWithShape="0">
              <a:srgbClr val="C8BFAF">
                <a:alpha val="13000"/>
              </a:srgbClr>
            </a:outerShdw>
          </a:effectLst>
        </p:spPr>
      </p:sp>
      <p:pic>
        <p:nvPicPr>
          <p:cNvPr id="8" name="Image 0" descr="/mnt/data/02-equipment-registry(1)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71019" y="2157984"/>
            <a:ext cx="5005065" cy="3739896"/>
          </a:xfrm>
          <a:prstGeom prst="rect">
            <a:avLst/>
          </a:prstGeom>
        </p:spPr>
      </p:pic>
      <p:sp>
        <p:nvSpPr>
          <p:cNvPr id="9" name="Shape 6"/>
          <p:cNvSpPr/>
          <p:nvPr/>
        </p:nvSpPr>
        <p:spPr>
          <a:xfrm>
            <a:off x="6080760" y="2084832"/>
            <a:ext cx="3154680" cy="3886200"/>
          </a:xfrm>
          <a:prstGeom prst="roundRect">
            <a:avLst>
              <a:gd name="adj" fmla="val 1594"/>
            </a:avLst>
          </a:prstGeom>
          <a:solidFill>
            <a:srgbClr val="FCFAF5"/>
          </a:solidFill>
          <a:ln w="9525">
            <a:solidFill>
              <a:srgbClr val="D9D1C3"/>
            </a:solidFill>
            <a:prstDash val="solid"/>
          </a:ln>
          <a:effectLst>
            <a:outerShdw blurRad="25400" dist="50800" dir="2700000" algn="bl" rotWithShape="0">
              <a:srgbClr val="C8BFAF">
                <a:alpha val="13000"/>
              </a:srgbClr>
            </a:outerShdw>
          </a:effectLst>
        </p:spPr>
      </p:sp>
      <p:pic>
        <p:nvPicPr>
          <p:cNvPr id="10" name="Image 1" descr="/mnt/data/03-equipment-card(1)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53912" y="2983357"/>
            <a:ext cx="3008376" cy="2089150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9555480" y="2103120"/>
            <a:ext cx="1965960" cy="365760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230" dirty="0">
                <a:solidFill>
                  <a:srgbClr val="112642"/>
                </a:solidFill>
                <a:latin typeface="Georgia" panose="02040502050405020303" pitchFamily="34" charset="0"/>
                <a:ea typeface="Georgia" panose="02040502050405020303" pitchFamily="34" charset="-122"/>
                <a:cs typeface="Georgia" panose="02040502050405020303" pitchFamily="34" charset="-120"/>
              </a:rPr>
              <a:t>Реестр оборудования — центральная таблица системы.</a:t>
            </a:r>
            <a:endParaRPr lang="en-US" sz="1230" dirty="0"/>
          </a:p>
        </p:txBody>
      </p:sp>
      <p:sp>
        <p:nvSpPr>
          <p:cNvPr id="12" name="Shape 8"/>
          <p:cNvSpPr/>
          <p:nvPr/>
        </p:nvSpPr>
        <p:spPr>
          <a:xfrm>
            <a:off x="9555480" y="2816352"/>
            <a:ext cx="256032" cy="256032"/>
          </a:xfrm>
          <a:prstGeom prst="ellipse">
            <a:avLst/>
          </a:prstGeom>
          <a:solidFill>
            <a:srgbClr val="112642"/>
          </a:solidFill>
          <a:ln w="12700">
            <a:solidFill>
              <a:srgbClr val="112642"/>
            </a:solidFill>
            <a:prstDash val="solid"/>
          </a:ln>
        </p:spPr>
      </p:sp>
      <p:sp>
        <p:nvSpPr>
          <p:cNvPr id="13" name="Text 9"/>
          <p:cNvSpPr/>
          <p:nvPr/>
        </p:nvSpPr>
        <p:spPr>
          <a:xfrm>
            <a:off x="9555480" y="2884932"/>
            <a:ext cx="256032" cy="91440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</a:t>
            </a:r>
            <a:endParaRPr lang="en-US" sz="750" dirty="0"/>
          </a:p>
        </p:txBody>
      </p:sp>
      <p:sp>
        <p:nvSpPr>
          <p:cNvPr id="14" name="Text 10"/>
          <p:cNvSpPr/>
          <p:nvPr/>
        </p:nvSpPr>
        <p:spPr>
          <a:xfrm>
            <a:off x="9939528" y="2788920"/>
            <a:ext cx="1901952" cy="201168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320" b="1" dirty="0">
                <a:solidFill>
                  <a:srgbClr val="112642"/>
                </a:solidFill>
                <a:latin typeface="Georgia" panose="02040502050405020303" pitchFamily="34" charset="0"/>
                <a:ea typeface="Georgia" panose="02040502050405020303" pitchFamily="34" charset="-122"/>
                <a:cs typeface="Georgia" panose="02040502050405020303" pitchFamily="34" charset="-120"/>
              </a:rPr>
              <a:t>Поиск и фильтры</a:t>
            </a:r>
            <a:endParaRPr lang="en-US" sz="1320" dirty="0"/>
          </a:p>
        </p:txBody>
      </p:sp>
      <p:sp>
        <p:nvSpPr>
          <p:cNvPr id="15" name="Text 11"/>
          <p:cNvSpPr/>
          <p:nvPr/>
        </p:nvSpPr>
        <p:spPr>
          <a:xfrm>
            <a:off x="9939528" y="3044952"/>
            <a:ext cx="1901952" cy="502920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000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Название, номер, серийный номер, статус, категория и локация.</a:t>
            </a:r>
            <a:endParaRPr lang="en-US" sz="1000" dirty="0"/>
          </a:p>
        </p:txBody>
      </p:sp>
      <p:sp>
        <p:nvSpPr>
          <p:cNvPr id="16" name="Shape 12"/>
          <p:cNvSpPr/>
          <p:nvPr/>
        </p:nvSpPr>
        <p:spPr>
          <a:xfrm>
            <a:off x="9555480" y="3639312"/>
            <a:ext cx="256032" cy="256032"/>
          </a:xfrm>
          <a:prstGeom prst="ellipse">
            <a:avLst/>
          </a:prstGeom>
          <a:solidFill>
            <a:srgbClr val="112642"/>
          </a:solidFill>
          <a:ln w="12700">
            <a:solidFill>
              <a:srgbClr val="112642"/>
            </a:solidFill>
            <a:prstDash val="solid"/>
          </a:ln>
        </p:spPr>
      </p:sp>
      <p:sp>
        <p:nvSpPr>
          <p:cNvPr id="17" name="Text 13"/>
          <p:cNvSpPr/>
          <p:nvPr/>
        </p:nvSpPr>
        <p:spPr>
          <a:xfrm>
            <a:off x="9555480" y="3707892"/>
            <a:ext cx="256032" cy="91440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</a:t>
            </a:r>
            <a:endParaRPr lang="en-US" sz="750" dirty="0"/>
          </a:p>
        </p:txBody>
      </p:sp>
      <p:sp>
        <p:nvSpPr>
          <p:cNvPr id="18" name="Text 14"/>
          <p:cNvSpPr/>
          <p:nvPr/>
        </p:nvSpPr>
        <p:spPr>
          <a:xfrm>
            <a:off x="9939528" y="3611880"/>
            <a:ext cx="1901952" cy="201168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320" b="1" dirty="0">
                <a:solidFill>
                  <a:srgbClr val="112642"/>
                </a:solidFill>
                <a:latin typeface="Georgia" panose="02040502050405020303" pitchFamily="34" charset="0"/>
                <a:ea typeface="Georgia" panose="02040502050405020303" pitchFamily="34" charset="-122"/>
                <a:cs typeface="Georgia" panose="02040502050405020303" pitchFamily="34" charset="-120"/>
              </a:rPr>
              <a:t>Паспорт актива</a:t>
            </a:r>
            <a:endParaRPr lang="en-US" sz="1320" dirty="0"/>
          </a:p>
        </p:txBody>
      </p:sp>
      <p:sp>
        <p:nvSpPr>
          <p:cNvPr id="19" name="Text 15"/>
          <p:cNvSpPr/>
          <p:nvPr/>
        </p:nvSpPr>
        <p:spPr>
          <a:xfrm>
            <a:off x="9939528" y="3867912"/>
            <a:ext cx="1901952" cy="502920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000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Инвентарный номер, владелец, место хранения, стоимость и гарантия.</a:t>
            </a:r>
            <a:endParaRPr lang="en-US" sz="1000" dirty="0"/>
          </a:p>
        </p:txBody>
      </p:sp>
      <p:sp>
        <p:nvSpPr>
          <p:cNvPr id="20" name="Shape 16"/>
          <p:cNvSpPr/>
          <p:nvPr/>
        </p:nvSpPr>
        <p:spPr>
          <a:xfrm>
            <a:off x="9555480" y="4462272"/>
            <a:ext cx="256032" cy="256032"/>
          </a:xfrm>
          <a:prstGeom prst="ellipse">
            <a:avLst/>
          </a:prstGeom>
          <a:solidFill>
            <a:srgbClr val="112642"/>
          </a:solidFill>
          <a:ln w="12700">
            <a:solidFill>
              <a:srgbClr val="112642"/>
            </a:solidFill>
            <a:prstDash val="solid"/>
          </a:ln>
        </p:spPr>
      </p:sp>
      <p:sp>
        <p:nvSpPr>
          <p:cNvPr id="21" name="Text 17"/>
          <p:cNvSpPr/>
          <p:nvPr/>
        </p:nvSpPr>
        <p:spPr>
          <a:xfrm>
            <a:off x="9555480" y="4530852"/>
            <a:ext cx="256032" cy="91440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</a:t>
            </a:r>
            <a:endParaRPr lang="en-US" sz="750" dirty="0"/>
          </a:p>
        </p:txBody>
      </p:sp>
      <p:sp>
        <p:nvSpPr>
          <p:cNvPr id="22" name="Text 18"/>
          <p:cNvSpPr/>
          <p:nvPr/>
        </p:nvSpPr>
        <p:spPr>
          <a:xfrm>
            <a:off x="9939528" y="4434840"/>
            <a:ext cx="1901952" cy="201168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320" b="1" dirty="0">
                <a:solidFill>
                  <a:srgbClr val="112642"/>
                </a:solidFill>
                <a:latin typeface="Georgia" panose="02040502050405020303" pitchFamily="34" charset="0"/>
                <a:ea typeface="Georgia" panose="02040502050405020303" pitchFamily="34" charset="-122"/>
                <a:cs typeface="Georgia" panose="02040502050405020303" pitchFamily="34" charset="-120"/>
              </a:rPr>
              <a:t>История</a:t>
            </a:r>
            <a:endParaRPr lang="en-US" sz="1320" dirty="0"/>
          </a:p>
        </p:txBody>
      </p:sp>
      <p:sp>
        <p:nvSpPr>
          <p:cNvPr id="23" name="Text 19"/>
          <p:cNvSpPr/>
          <p:nvPr/>
        </p:nvSpPr>
        <p:spPr>
          <a:xfrm>
            <a:off x="9939528" y="4690872"/>
            <a:ext cx="1901952" cy="502920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000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Карточка показывает выдачи, ремонты и audit log по устройству.</a:t>
            </a:r>
            <a:endParaRPr lang="en-US" sz="1000" dirty="0"/>
          </a:p>
        </p:txBody>
      </p:sp>
      <p:sp>
        <p:nvSpPr>
          <p:cNvPr id="24" name="Shape 20"/>
          <p:cNvSpPr/>
          <p:nvPr/>
        </p:nvSpPr>
        <p:spPr>
          <a:xfrm>
            <a:off x="9555480" y="5285232"/>
            <a:ext cx="256032" cy="256032"/>
          </a:xfrm>
          <a:prstGeom prst="ellipse">
            <a:avLst/>
          </a:prstGeom>
          <a:solidFill>
            <a:srgbClr val="112642"/>
          </a:solidFill>
          <a:ln w="12700">
            <a:solidFill>
              <a:srgbClr val="112642"/>
            </a:solidFill>
            <a:prstDash val="solid"/>
          </a:ln>
        </p:spPr>
      </p:sp>
      <p:sp>
        <p:nvSpPr>
          <p:cNvPr id="25" name="Text 21"/>
          <p:cNvSpPr/>
          <p:nvPr/>
        </p:nvSpPr>
        <p:spPr>
          <a:xfrm>
            <a:off x="9555480" y="5353812"/>
            <a:ext cx="256032" cy="91440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4</a:t>
            </a:r>
            <a:endParaRPr lang="en-US" sz="750" dirty="0"/>
          </a:p>
        </p:txBody>
      </p:sp>
      <p:sp>
        <p:nvSpPr>
          <p:cNvPr id="26" name="Text 22"/>
          <p:cNvSpPr/>
          <p:nvPr/>
        </p:nvSpPr>
        <p:spPr>
          <a:xfrm>
            <a:off x="9939528" y="5257800"/>
            <a:ext cx="1901952" cy="201168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320" b="1" dirty="0">
                <a:solidFill>
                  <a:srgbClr val="112642"/>
                </a:solidFill>
                <a:latin typeface="Georgia" panose="02040502050405020303" pitchFamily="34" charset="0"/>
                <a:ea typeface="Georgia" panose="02040502050405020303" pitchFamily="34" charset="-122"/>
                <a:cs typeface="Georgia" panose="02040502050405020303" pitchFamily="34" charset="-120"/>
              </a:rPr>
              <a:t>Действия</a:t>
            </a:r>
            <a:endParaRPr lang="en-US" sz="1320" dirty="0"/>
          </a:p>
        </p:txBody>
      </p:sp>
      <p:sp>
        <p:nvSpPr>
          <p:cNvPr id="27" name="Text 23"/>
          <p:cNvSpPr/>
          <p:nvPr/>
        </p:nvSpPr>
        <p:spPr>
          <a:xfrm>
            <a:off x="9939528" y="5513832"/>
            <a:ext cx="1901952" cy="502920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000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Открыть выдачи, создать ремонт, списать или отметить потерянным.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3E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228600" y="182880"/>
            <a:ext cx="11734495" cy="6492240"/>
          </a:xfrm>
          <a:prstGeom prst="roundRect">
            <a:avLst>
              <a:gd name="adj" fmla="val 704"/>
            </a:avLst>
          </a:prstGeom>
          <a:solidFill>
            <a:srgbClr val="F7F3EC">
              <a:alpha val="0"/>
            </a:srgbClr>
          </a:solidFill>
          <a:ln w="9525">
            <a:solidFill>
              <a:srgbClr val="D9D1C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1533327" y="384048"/>
            <a:ext cx="329184" cy="1828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50" dirty="0">
                <a:solidFill>
                  <a:srgbClr val="11264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07</a:t>
            </a:r>
            <a:endParaRPr lang="en-US" sz="1050" dirty="0"/>
          </a:p>
        </p:txBody>
      </p:sp>
      <p:sp>
        <p:nvSpPr>
          <p:cNvPr id="4" name="Text 2"/>
          <p:cNvSpPr/>
          <p:nvPr/>
        </p:nvSpPr>
        <p:spPr>
          <a:xfrm>
            <a:off x="530352" y="566928"/>
            <a:ext cx="3657600" cy="201168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850" b="1" dirty="0">
                <a:solidFill>
                  <a:srgbClr val="7A726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ДВИЖЕНИЕ ОБОРУДОВАНИЯ</a:t>
            </a:r>
            <a:endParaRPr lang="en-US" sz="850" dirty="0"/>
          </a:p>
        </p:txBody>
      </p:sp>
      <p:sp>
        <p:nvSpPr>
          <p:cNvPr id="5" name="Text 3"/>
          <p:cNvSpPr/>
          <p:nvPr/>
        </p:nvSpPr>
        <p:spPr>
          <a:xfrm>
            <a:off x="530352" y="841248"/>
            <a:ext cx="4206240" cy="1024128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3100" b="1" dirty="0">
                <a:solidFill>
                  <a:srgbClr val="112642"/>
                </a:solidFill>
                <a:latin typeface="Georgia" panose="02040502050405020303" pitchFamily="34" charset="0"/>
                <a:ea typeface="Georgia" panose="02040502050405020303" pitchFamily="34" charset="-122"/>
                <a:cs typeface="Georgia" panose="02040502050405020303" pitchFamily="34" charset="-120"/>
              </a:rPr>
              <a:t>Выдачи, возвраты</a:t>
            </a:r>
            <a:endParaRPr lang="en-US" sz="3100" dirty="0"/>
          </a:p>
          <a:p>
            <a:pPr marL="0" indent="0" algn="l">
              <a:buNone/>
            </a:pPr>
            <a:r>
              <a:rPr lang="en-US" sz="3100" b="1" dirty="0">
                <a:solidFill>
                  <a:srgbClr val="112642"/>
                </a:solidFill>
                <a:latin typeface="Georgia" panose="02040502050405020303" pitchFamily="34" charset="0"/>
                <a:ea typeface="Georgia" panose="02040502050405020303" pitchFamily="34" charset="-122"/>
                <a:cs typeface="Georgia" panose="02040502050405020303" pitchFamily="34" charset="-120"/>
              </a:rPr>
              <a:t>и сотрудники</a:t>
            </a:r>
            <a:endParaRPr lang="en-US" sz="3100" dirty="0"/>
          </a:p>
        </p:txBody>
      </p:sp>
      <p:sp>
        <p:nvSpPr>
          <p:cNvPr id="6" name="Shape 4"/>
          <p:cNvSpPr/>
          <p:nvPr/>
        </p:nvSpPr>
        <p:spPr>
          <a:xfrm>
            <a:off x="530352" y="1920240"/>
            <a:ext cx="457200" cy="22860"/>
          </a:xfrm>
          <a:prstGeom prst="rect">
            <a:avLst/>
          </a:prstGeom>
          <a:solidFill>
            <a:srgbClr val="112642"/>
          </a:solidFill>
          <a:ln w="12700">
            <a:solidFill>
              <a:srgbClr val="112642">
                <a:alpha val="0"/>
              </a:srgbClr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48640" y="2212848"/>
            <a:ext cx="3977640" cy="457200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350" dirty="0">
                <a:solidFill>
                  <a:srgbClr val="111827"/>
                </a:solidFill>
                <a:latin typeface="Georgia" panose="02040502050405020303" pitchFamily="34" charset="0"/>
                <a:ea typeface="Georgia" panose="02040502050405020303" pitchFamily="34" charset="-122"/>
                <a:cs typeface="Georgia" panose="02040502050405020303" pitchFamily="34" charset="-120"/>
              </a:rPr>
              <a:t>Система закрепляет оборудование за конкретным сотрудником и контролирует сроки возврата.</a:t>
            </a:r>
            <a:endParaRPr lang="en-US" sz="1350" dirty="0"/>
          </a:p>
        </p:txBody>
      </p:sp>
      <p:sp>
        <p:nvSpPr>
          <p:cNvPr id="8" name="Shape 6"/>
          <p:cNvSpPr/>
          <p:nvPr/>
        </p:nvSpPr>
        <p:spPr>
          <a:xfrm>
            <a:off x="640080" y="2999232"/>
            <a:ext cx="256032" cy="256032"/>
          </a:xfrm>
          <a:prstGeom prst="ellipse">
            <a:avLst/>
          </a:prstGeom>
          <a:solidFill>
            <a:srgbClr val="112642"/>
          </a:solidFill>
          <a:ln w="12700">
            <a:solidFill>
              <a:srgbClr val="112642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40080" y="3067812"/>
            <a:ext cx="256032" cy="91440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</a:t>
            </a:r>
            <a:endParaRPr lang="en-US" sz="750" dirty="0"/>
          </a:p>
        </p:txBody>
      </p:sp>
      <p:sp>
        <p:nvSpPr>
          <p:cNvPr id="10" name="Text 8"/>
          <p:cNvSpPr/>
          <p:nvPr/>
        </p:nvSpPr>
        <p:spPr>
          <a:xfrm>
            <a:off x="1024128" y="2971800"/>
            <a:ext cx="3730752" cy="201168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320" b="1" dirty="0">
                <a:solidFill>
                  <a:srgbClr val="112642"/>
                </a:solidFill>
                <a:latin typeface="Georgia" panose="02040502050405020303" pitchFamily="34" charset="0"/>
                <a:ea typeface="Georgia" panose="02040502050405020303" pitchFamily="34" charset="-122"/>
                <a:cs typeface="Georgia" panose="02040502050405020303" pitchFamily="34" charset="-120"/>
              </a:rPr>
              <a:t>Активные выдачи</a:t>
            </a:r>
            <a:endParaRPr lang="en-US" sz="1320" dirty="0"/>
          </a:p>
        </p:txBody>
      </p:sp>
      <p:sp>
        <p:nvSpPr>
          <p:cNvPr id="11" name="Text 9"/>
          <p:cNvSpPr/>
          <p:nvPr/>
        </p:nvSpPr>
        <p:spPr>
          <a:xfrm>
            <a:off x="1024128" y="3227832"/>
            <a:ext cx="3730752" cy="502920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000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План возврата, фактический возврат и текущий статус.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640080" y="3867912"/>
            <a:ext cx="256032" cy="256032"/>
          </a:xfrm>
          <a:prstGeom prst="ellipse">
            <a:avLst/>
          </a:prstGeom>
          <a:solidFill>
            <a:srgbClr val="112642"/>
          </a:solidFill>
          <a:ln w="12700">
            <a:solidFill>
              <a:srgbClr val="112642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40080" y="3936492"/>
            <a:ext cx="256032" cy="91440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</a:t>
            </a:r>
            <a:endParaRPr lang="en-US" sz="750" dirty="0"/>
          </a:p>
        </p:txBody>
      </p:sp>
      <p:sp>
        <p:nvSpPr>
          <p:cNvPr id="14" name="Text 12"/>
          <p:cNvSpPr/>
          <p:nvPr/>
        </p:nvSpPr>
        <p:spPr>
          <a:xfrm>
            <a:off x="1024128" y="3840480"/>
            <a:ext cx="3730752" cy="201168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320" b="1" dirty="0">
                <a:solidFill>
                  <a:srgbClr val="112642"/>
                </a:solidFill>
                <a:latin typeface="Georgia" panose="02040502050405020303" pitchFamily="34" charset="0"/>
                <a:ea typeface="Georgia" panose="02040502050405020303" pitchFamily="34" charset="-122"/>
                <a:cs typeface="Georgia" panose="02040502050405020303" pitchFamily="34" charset="-120"/>
              </a:rPr>
              <a:t>Просрочки</a:t>
            </a:r>
            <a:endParaRPr lang="en-US" sz="1320" dirty="0"/>
          </a:p>
        </p:txBody>
      </p:sp>
      <p:sp>
        <p:nvSpPr>
          <p:cNvPr id="15" name="Text 13"/>
          <p:cNvSpPr/>
          <p:nvPr/>
        </p:nvSpPr>
        <p:spPr>
          <a:xfrm>
            <a:off x="1024128" y="4096512"/>
            <a:ext cx="3730752" cy="502920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000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Проблемные позиции выделяются отдельно и видны сразу.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640080" y="4736592"/>
            <a:ext cx="256032" cy="256032"/>
          </a:xfrm>
          <a:prstGeom prst="ellipse">
            <a:avLst/>
          </a:prstGeom>
          <a:solidFill>
            <a:srgbClr val="112642"/>
          </a:solidFill>
          <a:ln w="12700">
            <a:solidFill>
              <a:srgbClr val="112642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40080" y="4805172"/>
            <a:ext cx="256032" cy="91440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</a:t>
            </a:r>
            <a:endParaRPr lang="en-US" sz="750" dirty="0"/>
          </a:p>
        </p:txBody>
      </p:sp>
      <p:sp>
        <p:nvSpPr>
          <p:cNvPr id="18" name="Text 16"/>
          <p:cNvSpPr/>
          <p:nvPr/>
        </p:nvSpPr>
        <p:spPr>
          <a:xfrm>
            <a:off x="1024128" y="4709160"/>
            <a:ext cx="3730752" cy="201168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320" b="1" dirty="0">
                <a:solidFill>
                  <a:srgbClr val="112642"/>
                </a:solidFill>
                <a:latin typeface="Georgia" panose="02040502050405020303" pitchFamily="34" charset="0"/>
                <a:ea typeface="Georgia" panose="02040502050405020303" pitchFamily="34" charset="-122"/>
                <a:cs typeface="Georgia" panose="02040502050405020303" pitchFamily="34" charset="-120"/>
              </a:rPr>
              <a:t>Сотрудники</a:t>
            </a:r>
            <a:endParaRPr lang="en-US" sz="1320" dirty="0"/>
          </a:p>
        </p:txBody>
      </p:sp>
      <p:sp>
        <p:nvSpPr>
          <p:cNvPr id="19" name="Text 17"/>
          <p:cNvSpPr/>
          <p:nvPr/>
        </p:nvSpPr>
        <p:spPr>
          <a:xfrm>
            <a:off x="1024128" y="4965192"/>
            <a:ext cx="3730752" cy="502920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000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ФИО, отдел и должность — основа для закрепления активов.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640080" y="5605272"/>
            <a:ext cx="256032" cy="256032"/>
          </a:xfrm>
          <a:prstGeom prst="ellipse">
            <a:avLst/>
          </a:prstGeom>
          <a:solidFill>
            <a:srgbClr val="112642"/>
          </a:solidFill>
          <a:ln w="12700">
            <a:solidFill>
              <a:srgbClr val="112642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40080" y="5673852"/>
            <a:ext cx="256032" cy="91440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4</a:t>
            </a:r>
            <a:endParaRPr lang="en-US" sz="750" dirty="0"/>
          </a:p>
        </p:txBody>
      </p:sp>
      <p:sp>
        <p:nvSpPr>
          <p:cNvPr id="22" name="Text 20"/>
          <p:cNvSpPr/>
          <p:nvPr/>
        </p:nvSpPr>
        <p:spPr>
          <a:xfrm>
            <a:off x="1024128" y="5577840"/>
            <a:ext cx="3730752" cy="201168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320" b="1" dirty="0">
                <a:solidFill>
                  <a:srgbClr val="112642"/>
                </a:solidFill>
                <a:latin typeface="Georgia" panose="02040502050405020303" pitchFamily="34" charset="0"/>
                <a:ea typeface="Georgia" panose="02040502050405020303" pitchFamily="34" charset="-122"/>
                <a:cs typeface="Georgia" panose="02040502050405020303" pitchFamily="34" charset="-120"/>
              </a:rPr>
              <a:t>История</a:t>
            </a:r>
            <a:endParaRPr lang="en-US" sz="1320" dirty="0"/>
          </a:p>
        </p:txBody>
      </p:sp>
      <p:sp>
        <p:nvSpPr>
          <p:cNvPr id="23" name="Text 21"/>
          <p:cNvSpPr/>
          <p:nvPr/>
        </p:nvSpPr>
        <p:spPr>
          <a:xfrm>
            <a:off x="1024128" y="5833872"/>
            <a:ext cx="3730752" cy="502920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000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При возврате статус обновляется, а история сохраняется.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5257800" y="786384"/>
            <a:ext cx="6080760" cy="2697480"/>
          </a:xfrm>
          <a:prstGeom prst="roundRect">
            <a:avLst>
              <a:gd name="adj" fmla="val 1864"/>
            </a:avLst>
          </a:prstGeom>
          <a:solidFill>
            <a:srgbClr val="FCFAF5"/>
          </a:solidFill>
          <a:ln w="9525">
            <a:solidFill>
              <a:srgbClr val="D9D1C3"/>
            </a:solidFill>
            <a:prstDash val="solid"/>
          </a:ln>
          <a:effectLst>
            <a:outerShdw blurRad="25400" dist="50800" dir="2700000" algn="bl" rotWithShape="0">
              <a:srgbClr val="C8BFAF">
                <a:alpha val="13000"/>
              </a:srgbClr>
            </a:outerShdw>
          </a:effectLst>
        </p:spPr>
      </p:sp>
      <p:pic>
        <p:nvPicPr>
          <p:cNvPr id="25" name="Image 0" descr="/mnt/data/05-issuances(1)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61333" y="859536"/>
            <a:ext cx="3673693" cy="2551176"/>
          </a:xfrm>
          <a:prstGeom prst="rect">
            <a:avLst/>
          </a:prstGeom>
        </p:spPr>
      </p:pic>
      <p:sp>
        <p:nvSpPr>
          <p:cNvPr id="26" name="Shape 23"/>
          <p:cNvSpPr/>
          <p:nvPr/>
        </p:nvSpPr>
        <p:spPr>
          <a:xfrm>
            <a:off x="5257800" y="3749040"/>
            <a:ext cx="6080760" cy="2286000"/>
          </a:xfrm>
          <a:prstGeom prst="roundRect">
            <a:avLst>
              <a:gd name="adj" fmla="val 2200"/>
            </a:avLst>
          </a:prstGeom>
          <a:solidFill>
            <a:srgbClr val="FCFAF5"/>
          </a:solidFill>
          <a:ln w="9525">
            <a:solidFill>
              <a:srgbClr val="D9D1C3"/>
            </a:solidFill>
            <a:prstDash val="solid"/>
          </a:ln>
          <a:effectLst>
            <a:outerShdw blurRad="25400" dist="50800" dir="2700000" algn="bl" rotWithShape="0">
              <a:srgbClr val="C8BFAF">
                <a:alpha val="13000"/>
              </a:srgbClr>
            </a:outerShdw>
          </a:effectLst>
        </p:spPr>
      </p:sp>
      <p:pic>
        <p:nvPicPr>
          <p:cNvPr id="27" name="Image 1" descr="/mnt/data/04-employees(1)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57599" y="3822192"/>
            <a:ext cx="3081162" cy="2139696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3E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228600" y="182880"/>
            <a:ext cx="11734495" cy="6492240"/>
          </a:xfrm>
          <a:prstGeom prst="roundRect">
            <a:avLst>
              <a:gd name="adj" fmla="val 704"/>
            </a:avLst>
          </a:prstGeom>
          <a:solidFill>
            <a:srgbClr val="F7F3EC">
              <a:alpha val="0"/>
            </a:srgbClr>
          </a:solidFill>
          <a:ln w="9525">
            <a:solidFill>
              <a:srgbClr val="D9D1C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1533327" y="384048"/>
            <a:ext cx="329184" cy="1828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50" dirty="0">
                <a:solidFill>
                  <a:srgbClr val="11264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08</a:t>
            </a:r>
            <a:endParaRPr lang="en-US" sz="1050" dirty="0"/>
          </a:p>
        </p:txBody>
      </p:sp>
      <p:sp>
        <p:nvSpPr>
          <p:cNvPr id="4" name="Text 2"/>
          <p:cNvSpPr/>
          <p:nvPr/>
        </p:nvSpPr>
        <p:spPr>
          <a:xfrm>
            <a:off x="530352" y="566928"/>
            <a:ext cx="3657600" cy="201168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850" b="1" dirty="0">
                <a:solidFill>
                  <a:srgbClr val="7A726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КОНТРОЛЬ СОСТОЯНИЯ И СОБЫТИЙ</a:t>
            </a:r>
            <a:endParaRPr lang="en-US" sz="850" dirty="0"/>
          </a:p>
        </p:txBody>
      </p:sp>
      <p:sp>
        <p:nvSpPr>
          <p:cNvPr id="5" name="Text 3"/>
          <p:cNvSpPr/>
          <p:nvPr/>
        </p:nvSpPr>
        <p:spPr>
          <a:xfrm>
            <a:off x="530352" y="912495"/>
            <a:ext cx="4572000" cy="960120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112642"/>
                </a:solidFill>
                <a:latin typeface="Georgia" panose="02040502050405020303" pitchFamily="34" charset="0"/>
                <a:ea typeface="Georgia" panose="02040502050405020303" pitchFamily="34" charset="-122"/>
                <a:cs typeface="Georgia" panose="02040502050405020303" pitchFamily="34" charset="-120"/>
              </a:rPr>
              <a:t>Ремонт, инвентаризация</a:t>
            </a:r>
            <a:endParaRPr lang="en-US" sz="3000" dirty="0"/>
          </a:p>
          <a:p>
            <a:pPr marL="0" indent="0" algn="l">
              <a:buNone/>
            </a:pPr>
            <a:r>
              <a:rPr lang="en-US" sz="3000" b="1" dirty="0">
                <a:solidFill>
                  <a:srgbClr val="112642"/>
                </a:solidFill>
                <a:latin typeface="Georgia" panose="02040502050405020303" pitchFamily="34" charset="0"/>
                <a:ea typeface="Georgia" panose="02040502050405020303" pitchFamily="34" charset="-122"/>
                <a:cs typeface="Georgia" panose="02040502050405020303" pitchFamily="34" charset="-120"/>
              </a:rPr>
              <a:t>и уведомления</a:t>
            </a:r>
            <a:endParaRPr lang="en-US" sz="3000" dirty="0"/>
          </a:p>
        </p:txBody>
      </p:sp>
      <p:sp>
        <p:nvSpPr>
          <p:cNvPr id="7" name="Shape 5"/>
          <p:cNvSpPr/>
          <p:nvPr/>
        </p:nvSpPr>
        <p:spPr>
          <a:xfrm>
            <a:off x="658368" y="2084832"/>
            <a:ext cx="274320" cy="274320"/>
          </a:xfrm>
          <a:prstGeom prst="ellipse">
            <a:avLst/>
          </a:prstGeom>
          <a:solidFill>
            <a:srgbClr val="112642"/>
          </a:solidFill>
          <a:ln w="12700">
            <a:solidFill>
              <a:srgbClr val="112642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58368" y="2153412"/>
            <a:ext cx="274320" cy="91440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01</a:t>
            </a:r>
            <a:endParaRPr lang="en-US" sz="750" dirty="0"/>
          </a:p>
        </p:txBody>
      </p:sp>
      <p:sp>
        <p:nvSpPr>
          <p:cNvPr id="9" name="Text 7"/>
          <p:cNvSpPr/>
          <p:nvPr/>
        </p:nvSpPr>
        <p:spPr>
          <a:xfrm>
            <a:off x="1097280" y="2057400"/>
            <a:ext cx="3291840" cy="219456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520" b="1" dirty="0">
                <a:solidFill>
                  <a:srgbClr val="112642"/>
                </a:solidFill>
                <a:latin typeface="Georgia" panose="02040502050405020303" pitchFamily="34" charset="0"/>
                <a:ea typeface="Georgia" panose="02040502050405020303" pitchFamily="34" charset="-122"/>
                <a:cs typeface="Georgia" panose="02040502050405020303" pitchFamily="34" charset="-120"/>
              </a:rPr>
              <a:t>Ремонтные заявки</a:t>
            </a:r>
            <a:endParaRPr lang="en-US" sz="1520" dirty="0"/>
          </a:p>
        </p:txBody>
      </p:sp>
      <p:sp>
        <p:nvSpPr>
          <p:cNvPr id="10" name="Text 8"/>
          <p:cNvSpPr/>
          <p:nvPr/>
        </p:nvSpPr>
        <p:spPr>
          <a:xfrm>
            <a:off x="1097280" y="2350008"/>
            <a:ext cx="3474720" cy="438912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050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Для каждой неисправности создаётся заявка с приоритетом и статусом: OPEN, IN_PROGRESS, DONE.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640080" y="2898648"/>
            <a:ext cx="4160520" cy="7315"/>
          </a:xfrm>
          <a:prstGeom prst="rect">
            <a:avLst/>
          </a:prstGeom>
          <a:solidFill>
            <a:srgbClr val="E4DDD1"/>
          </a:solidFill>
          <a:ln w="12700">
            <a:solidFill>
              <a:srgbClr val="E4DDD1">
                <a:alpha val="0"/>
              </a:srgbClr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658368" y="3227832"/>
            <a:ext cx="274320" cy="274320"/>
          </a:xfrm>
          <a:prstGeom prst="ellipse">
            <a:avLst/>
          </a:prstGeom>
          <a:solidFill>
            <a:srgbClr val="112642"/>
          </a:solidFill>
          <a:ln w="12700">
            <a:solidFill>
              <a:srgbClr val="112642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58368" y="3296412"/>
            <a:ext cx="274320" cy="91440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02</a:t>
            </a:r>
            <a:endParaRPr lang="en-US" sz="750" dirty="0"/>
          </a:p>
        </p:txBody>
      </p:sp>
      <p:sp>
        <p:nvSpPr>
          <p:cNvPr id="14" name="Text 12"/>
          <p:cNvSpPr/>
          <p:nvPr/>
        </p:nvSpPr>
        <p:spPr>
          <a:xfrm>
            <a:off x="1097280" y="3200400"/>
            <a:ext cx="3291840" cy="219456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520" b="1" dirty="0">
                <a:solidFill>
                  <a:srgbClr val="112642"/>
                </a:solidFill>
                <a:latin typeface="Georgia" panose="02040502050405020303" pitchFamily="34" charset="0"/>
                <a:ea typeface="Georgia" panose="02040502050405020303" pitchFamily="34" charset="-122"/>
                <a:cs typeface="Georgia" panose="02040502050405020303" pitchFamily="34" charset="-120"/>
              </a:rPr>
              <a:t>Инвентаризация</a:t>
            </a:r>
            <a:endParaRPr lang="en-US" sz="1520" dirty="0"/>
          </a:p>
        </p:txBody>
      </p:sp>
      <p:sp>
        <p:nvSpPr>
          <p:cNvPr id="15" name="Text 13"/>
          <p:cNvSpPr/>
          <p:nvPr/>
        </p:nvSpPr>
        <p:spPr>
          <a:xfrm>
            <a:off x="1097280" y="3493008"/>
            <a:ext cx="3474720" cy="438912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050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Проверки фиксируют результаты FOUND / MISSING / MOVED / DAMAGED и подтверждают наличие.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640080" y="4041648"/>
            <a:ext cx="4160520" cy="7315"/>
          </a:xfrm>
          <a:prstGeom prst="rect">
            <a:avLst/>
          </a:prstGeom>
          <a:solidFill>
            <a:srgbClr val="E4DDD1"/>
          </a:solidFill>
          <a:ln w="12700">
            <a:solidFill>
              <a:srgbClr val="E4DDD1">
                <a:alpha val="0"/>
              </a:srgbClr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658368" y="4370832"/>
            <a:ext cx="274320" cy="274320"/>
          </a:xfrm>
          <a:prstGeom prst="ellipse">
            <a:avLst/>
          </a:prstGeom>
          <a:solidFill>
            <a:srgbClr val="112642"/>
          </a:solidFill>
          <a:ln w="12700">
            <a:solidFill>
              <a:srgbClr val="112642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58368" y="4439412"/>
            <a:ext cx="274320" cy="91440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03</a:t>
            </a:r>
            <a:endParaRPr lang="en-US" sz="750" dirty="0"/>
          </a:p>
        </p:txBody>
      </p:sp>
      <p:sp>
        <p:nvSpPr>
          <p:cNvPr id="19" name="Text 17"/>
          <p:cNvSpPr/>
          <p:nvPr/>
        </p:nvSpPr>
        <p:spPr>
          <a:xfrm>
            <a:off x="1097280" y="4343400"/>
            <a:ext cx="3291840" cy="219456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520" b="1" dirty="0">
                <a:solidFill>
                  <a:srgbClr val="112642"/>
                </a:solidFill>
                <a:latin typeface="Georgia" panose="02040502050405020303" pitchFamily="34" charset="0"/>
                <a:ea typeface="Georgia" panose="02040502050405020303" pitchFamily="34" charset="-122"/>
                <a:cs typeface="Georgia" panose="02040502050405020303" pitchFamily="34" charset="-120"/>
              </a:rPr>
              <a:t>Уведомления</a:t>
            </a:r>
            <a:endParaRPr lang="en-US" sz="1520" dirty="0"/>
          </a:p>
        </p:txBody>
      </p:sp>
      <p:sp>
        <p:nvSpPr>
          <p:cNvPr id="20" name="Text 18"/>
          <p:cNvSpPr/>
          <p:nvPr/>
        </p:nvSpPr>
        <p:spPr>
          <a:xfrm>
            <a:off x="1097280" y="4636008"/>
            <a:ext cx="3474720" cy="438912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050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Система сообщает о критичных ремонтах, событиях по выдачам и важных изменениях.</a:t>
            </a:r>
            <a:endParaRPr lang="en-US" sz="1050" dirty="0"/>
          </a:p>
        </p:txBody>
      </p:sp>
      <p:sp>
        <p:nvSpPr>
          <p:cNvPr id="21" name="Shape 19"/>
          <p:cNvSpPr/>
          <p:nvPr/>
        </p:nvSpPr>
        <p:spPr>
          <a:xfrm>
            <a:off x="5166360" y="1481328"/>
            <a:ext cx="6172200" cy="2011680"/>
          </a:xfrm>
          <a:prstGeom prst="roundRect">
            <a:avLst>
              <a:gd name="adj" fmla="val 2500"/>
            </a:avLst>
          </a:prstGeom>
          <a:solidFill>
            <a:srgbClr val="FCFAF5"/>
          </a:solidFill>
          <a:ln w="9525">
            <a:solidFill>
              <a:srgbClr val="D9D1C3"/>
            </a:solidFill>
            <a:prstDash val="solid"/>
          </a:ln>
          <a:effectLst>
            <a:outerShdw blurRad="25400" dist="50800" dir="2700000" algn="bl" rotWithShape="0">
              <a:srgbClr val="C8BFAF">
                <a:alpha val="13000"/>
              </a:srgbClr>
            </a:outerShdw>
          </a:effectLst>
        </p:spPr>
      </p:sp>
      <p:pic>
        <p:nvPicPr>
          <p:cNvPr id="22" name="Image 0" descr="/mnt/data/06-repairs(1)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909389" y="1554480"/>
            <a:ext cx="2686141" cy="1865376"/>
          </a:xfrm>
          <a:prstGeom prst="rect">
            <a:avLst/>
          </a:prstGeom>
        </p:spPr>
      </p:pic>
      <p:sp>
        <p:nvSpPr>
          <p:cNvPr id="23" name="Shape 20"/>
          <p:cNvSpPr/>
          <p:nvPr/>
        </p:nvSpPr>
        <p:spPr>
          <a:xfrm>
            <a:off x="5166360" y="3657600"/>
            <a:ext cx="2880360" cy="1664208"/>
          </a:xfrm>
          <a:prstGeom prst="roundRect">
            <a:avLst>
              <a:gd name="adj" fmla="val 3022"/>
            </a:avLst>
          </a:prstGeom>
          <a:solidFill>
            <a:srgbClr val="FCFAF5"/>
          </a:solidFill>
          <a:ln w="9525">
            <a:solidFill>
              <a:srgbClr val="D9D1C3"/>
            </a:solidFill>
            <a:prstDash val="solid"/>
          </a:ln>
          <a:effectLst>
            <a:outerShdw blurRad="25400" dist="50800" dir="2700000" algn="bl" rotWithShape="0">
              <a:srgbClr val="C8BFAF">
                <a:alpha val="13000"/>
              </a:srgbClr>
            </a:outerShdw>
          </a:effectLst>
        </p:spPr>
      </p:sp>
      <p:pic>
        <p:nvPicPr>
          <p:cNvPr id="24" name="Image 1" descr="/mnt/data/07-inventory-checks(1)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513649" y="3730752"/>
            <a:ext cx="2185782" cy="1517904"/>
          </a:xfrm>
          <a:prstGeom prst="rect">
            <a:avLst/>
          </a:prstGeom>
        </p:spPr>
      </p:pic>
      <p:sp>
        <p:nvSpPr>
          <p:cNvPr id="25" name="Shape 21"/>
          <p:cNvSpPr/>
          <p:nvPr/>
        </p:nvSpPr>
        <p:spPr>
          <a:xfrm>
            <a:off x="8321040" y="3657600"/>
            <a:ext cx="3017520" cy="1664208"/>
          </a:xfrm>
          <a:prstGeom prst="roundRect">
            <a:avLst>
              <a:gd name="adj" fmla="val 3022"/>
            </a:avLst>
          </a:prstGeom>
          <a:solidFill>
            <a:srgbClr val="FCFAF5"/>
          </a:solidFill>
          <a:ln w="9525">
            <a:solidFill>
              <a:srgbClr val="D9D1C3"/>
            </a:solidFill>
            <a:prstDash val="solid"/>
          </a:ln>
          <a:effectLst>
            <a:outerShdw blurRad="25400" dist="50800" dir="2700000" algn="bl" rotWithShape="0">
              <a:srgbClr val="C8BFAF">
                <a:alpha val="13000"/>
              </a:srgbClr>
            </a:outerShdw>
          </a:effectLst>
        </p:spPr>
      </p:sp>
      <p:pic>
        <p:nvPicPr>
          <p:cNvPr id="26" name="Image 2" descr="/mnt/data/10-notifications(1)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736909" y="3730752"/>
            <a:ext cx="2185782" cy="1517904"/>
          </a:xfrm>
          <a:prstGeom prst="rect">
            <a:avLst/>
          </a:prstGeom>
        </p:spPr>
      </p:pic>
      <p:sp>
        <p:nvSpPr>
          <p:cNvPr id="27" name="Shape 22"/>
          <p:cNvSpPr/>
          <p:nvPr/>
        </p:nvSpPr>
        <p:spPr>
          <a:xfrm>
            <a:off x="530352" y="6099048"/>
            <a:ext cx="11109960" cy="411480"/>
          </a:xfrm>
          <a:prstGeom prst="roundRect">
            <a:avLst>
              <a:gd name="adj" fmla="val 12222"/>
            </a:avLst>
          </a:prstGeom>
          <a:solidFill>
            <a:srgbClr val="FAF7EF"/>
          </a:solidFill>
          <a:ln w="9525">
            <a:solidFill>
              <a:srgbClr val="D9D1C3"/>
            </a:solidFill>
            <a:prstDash val="solid"/>
          </a:ln>
        </p:spPr>
      </p:sp>
      <p:sp>
        <p:nvSpPr>
          <p:cNvPr id="28" name="Shape 23"/>
          <p:cNvSpPr/>
          <p:nvPr/>
        </p:nvSpPr>
        <p:spPr>
          <a:xfrm>
            <a:off x="713232" y="6172200"/>
            <a:ext cx="274320" cy="274320"/>
          </a:xfrm>
          <a:prstGeom prst="roundRect">
            <a:avLst>
              <a:gd name="adj" fmla="val 20000"/>
            </a:avLst>
          </a:prstGeom>
          <a:solidFill>
            <a:srgbClr val="112642"/>
          </a:solidFill>
          <a:ln w="7620">
            <a:solidFill>
              <a:srgbClr val="112642"/>
            </a:solidFill>
            <a:prstDash val="solid"/>
          </a:ln>
        </p:spPr>
      </p:sp>
      <p:sp>
        <p:nvSpPr>
          <p:cNvPr id="29" name="Text 24"/>
          <p:cNvSpPr/>
          <p:nvPr/>
        </p:nvSpPr>
        <p:spPr>
          <a:xfrm>
            <a:off x="713232" y="6245352"/>
            <a:ext cx="274320" cy="109728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✓</a:t>
            </a:r>
            <a:endParaRPr lang="en-US" sz="900" dirty="0"/>
          </a:p>
        </p:txBody>
      </p:sp>
      <p:sp>
        <p:nvSpPr>
          <p:cNvPr id="30" name="Text 25"/>
          <p:cNvSpPr/>
          <p:nvPr/>
        </p:nvSpPr>
        <p:spPr>
          <a:xfrm>
            <a:off x="1078992" y="6217920"/>
            <a:ext cx="10012680" cy="155448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060" dirty="0">
                <a:solidFill>
                  <a:srgbClr val="5B5F5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Модули контроля фиксируют не только наличие актива, но и его реальное состояние.</a:t>
            </a:r>
            <a:endParaRPr lang="en-US" sz="106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3E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228600" y="182880"/>
            <a:ext cx="11734495" cy="6492240"/>
          </a:xfrm>
          <a:prstGeom prst="roundRect">
            <a:avLst>
              <a:gd name="adj" fmla="val 704"/>
            </a:avLst>
          </a:prstGeom>
          <a:solidFill>
            <a:srgbClr val="F7F3EC">
              <a:alpha val="0"/>
            </a:srgbClr>
          </a:solidFill>
          <a:ln w="9525">
            <a:solidFill>
              <a:srgbClr val="D9D1C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1533327" y="384048"/>
            <a:ext cx="329184" cy="1828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50" dirty="0">
                <a:solidFill>
                  <a:srgbClr val="11264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09</a:t>
            </a:r>
            <a:endParaRPr lang="en-US" sz="1050" dirty="0"/>
          </a:p>
        </p:txBody>
      </p:sp>
      <p:sp>
        <p:nvSpPr>
          <p:cNvPr id="4" name="Text 2"/>
          <p:cNvSpPr/>
          <p:nvPr/>
        </p:nvSpPr>
        <p:spPr>
          <a:xfrm>
            <a:off x="530352" y="566928"/>
            <a:ext cx="3657600" cy="201168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850" b="1" dirty="0">
                <a:solidFill>
                  <a:srgbClr val="7A726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ОТЧЁТНОСТЬ И ПРОЗРАЧНОСТЬ</a:t>
            </a:r>
            <a:endParaRPr lang="en-US" sz="850" dirty="0"/>
          </a:p>
        </p:txBody>
      </p:sp>
      <p:sp>
        <p:nvSpPr>
          <p:cNvPr id="5" name="Text 3"/>
          <p:cNvSpPr/>
          <p:nvPr/>
        </p:nvSpPr>
        <p:spPr>
          <a:xfrm>
            <a:off x="530352" y="841248"/>
            <a:ext cx="4572000" cy="960120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3100" b="1" dirty="0">
                <a:solidFill>
                  <a:srgbClr val="112642"/>
                </a:solidFill>
                <a:latin typeface="Georgia" panose="02040502050405020303" pitchFamily="34" charset="0"/>
                <a:ea typeface="Georgia" panose="02040502050405020303" pitchFamily="34" charset="-122"/>
                <a:cs typeface="Georgia" panose="02040502050405020303" pitchFamily="34" charset="-120"/>
              </a:rPr>
              <a:t>Отчёты, PDF</a:t>
            </a:r>
            <a:endParaRPr lang="en-US" sz="3100" dirty="0"/>
          </a:p>
          <a:p>
            <a:pPr marL="0" indent="0" algn="l">
              <a:buNone/>
            </a:pPr>
            <a:r>
              <a:rPr lang="en-US" sz="3100" b="1" dirty="0">
                <a:solidFill>
                  <a:srgbClr val="112642"/>
                </a:solidFill>
                <a:latin typeface="Georgia" panose="02040502050405020303" pitchFamily="34" charset="0"/>
                <a:ea typeface="Georgia" panose="02040502050405020303" pitchFamily="34" charset="-122"/>
                <a:cs typeface="Georgia" panose="02040502050405020303" pitchFamily="34" charset="-120"/>
              </a:rPr>
              <a:t>и Audit log</a:t>
            </a:r>
            <a:endParaRPr lang="en-US" sz="3100" dirty="0"/>
          </a:p>
        </p:txBody>
      </p:sp>
      <p:sp>
        <p:nvSpPr>
          <p:cNvPr id="6" name="Shape 4"/>
          <p:cNvSpPr/>
          <p:nvPr/>
        </p:nvSpPr>
        <p:spPr>
          <a:xfrm>
            <a:off x="530352" y="1856232"/>
            <a:ext cx="457200" cy="22860"/>
          </a:xfrm>
          <a:prstGeom prst="rect">
            <a:avLst/>
          </a:prstGeom>
          <a:solidFill>
            <a:srgbClr val="112642"/>
          </a:solidFill>
          <a:ln w="12700">
            <a:solidFill>
              <a:srgbClr val="112642">
                <a:alpha val="0"/>
              </a:srgbClr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48640" y="2157984"/>
            <a:ext cx="4023360" cy="475488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350" dirty="0">
                <a:solidFill>
                  <a:srgbClr val="111827"/>
                </a:solidFill>
                <a:latin typeface="Georgia" panose="02040502050405020303" pitchFamily="34" charset="0"/>
                <a:ea typeface="Georgia" panose="02040502050405020303" pitchFamily="34" charset="-122"/>
                <a:cs typeface="Georgia" panose="02040502050405020303" pitchFamily="34" charset="-120"/>
              </a:rPr>
              <a:t>CSV используется для обработки в Excel, PDF — для официального представления, Audit log — для доверия.</a:t>
            </a:r>
            <a:endParaRPr lang="en-US" sz="1350" dirty="0"/>
          </a:p>
        </p:txBody>
      </p:sp>
      <p:sp>
        <p:nvSpPr>
          <p:cNvPr id="8" name="Shape 6"/>
          <p:cNvSpPr/>
          <p:nvPr>
            <p:custDataLst>
              <p:tags r:id="rId1"/>
            </p:custDataLst>
          </p:nvPr>
        </p:nvSpPr>
        <p:spPr>
          <a:xfrm>
            <a:off x="548640" y="2836545"/>
            <a:ext cx="4206240" cy="1028700"/>
          </a:xfrm>
          <a:prstGeom prst="roundRect">
            <a:avLst>
              <a:gd name="adj" fmla="val 6395"/>
            </a:avLst>
          </a:prstGeom>
          <a:solidFill>
            <a:srgbClr val="FCFAF5"/>
          </a:solidFill>
          <a:ln w="9525">
            <a:solidFill>
              <a:srgbClr val="D9D1C3"/>
            </a:solidFill>
            <a:prstDash val="solid"/>
          </a:ln>
        </p:spPr>
      </p:sp>
      <p:sp>
        <p:nvSpPr>
          <p:cNvPr id="9" name="Shape 7"/>
          <p:cNvSpPr/>
          <p:nvPr>
            <p:custDataLst>
              <p:tags r:id="rId2"/>
            </p:custDataLst>
          </p:nvPr>
        </p:nvSpPr>
        <p:spPr>
          <a:xfrm>
            <a:off x="731520" y="2983103"/>
            <a:ext cx="502920" cy="457200"/>
          </a:xfrm>
          <a:prstGeom prst="roundRect">
            <a:avLst>
              <a:gd name="adj" fmla="val 12000"/>
            </a:avLst>
          </a:prstGeom>
          <a:solidFill>
            <a:srgbClr val="F7F3EC"/>
          </a:solidFill>
          <a:ln w="7620">
            <a:solidFill>
              <a:srgbClr val="C7BFAF"/>
            </a:solidFill>
            <a:prstDash val="solid"/>
          </a:ln>
        </p:spPr>
      </p:sp>
      <p:sp>
        <p:nvSpPr>
          <p:cNvPr id="10" name="Text 8"/>
          <p:cNvSpPr/>
          <p:nvPr>
            <p:custDataLst>
              <p:tags r:id="rId3"/>
            </p:custDataLst>
          </p:nvPr>
        </p:nvSpPr>
        <p:spPr>
          <a:xfrm>
            <a:off x="731520" y="3156331"/>
            <a:ext cx="502920" cy="109728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1264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PDF</a:t>
            </a:r>
            <a:endParaRPr lang="en-US" sz="1100" dirty="0"/>
          </a:p>
        </p:txBody>
      </p:sp>
      <p:sp>
        <p:nvSpPr>
          <p:cNvPr id="11" name="Text 9"/>
          <p:cNvSpPr/>
          <p:nvPr>
            <p:custDataLst>
              <p:tags r:id="rId4"/>
            </p:custDataLst>
          </p:nvPr>
        </p:nvSpPr>
        <p:spPr>
          <a:xfrm>
            <a:off x="1389888" y="3154680"/>
            <a:ext cx="3154680" cy="292608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450" b="1" dirty="0">
                <a:solidFill>
                  <a:srgbClr val="112642"/>
                </a:solidFill>
                <a:latin typeface="Georgia" panose="02040502050405020303" pitchFamily="34" charset="0"/>
                <a:ea typeface="Georgia" panose="02040502050405020303" pitchFamily="34" charset="-122"/>
                <a:cs typeface="Georgia" panose="02040502050405020303" pitchFamily="34" charset="-120"/>
              </a:rPr>
              <a:t>Официальные отчёты</a:t>
            </a:r>
            <a:endParaRPr lang="en-US" sz="1450" dirty="0"/>
          </a:p>
        </p:txBody>
      </p:sp>
      <p:sp>
        <p:nvSpPr>
          <p:cNvPr id="12" name="Text 10"/>
          <p:cNvSpPr/>
          <p:nvPr>
            <p:custDataLst>
              <p:tags r:id="rId5"/>
            </p:custDataLst>
          </p:nvPr>
        </p:nvSpPr>
        <p:spPr>
          <a:xfrm>
            <a:off x="868807" y="3458718"/>
            <a:ext cx="3703320" cy="9144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040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Сводный реестр оборудования, история выдач, ремонты, инвентаризация и журнал действий.</a:t>
            </a:r>
            <a:endParaRPr lang="en-US" sz="1040" dirty="0"/>
          </a:p>
        </p:txBody>
      </p:sp>
      <p:sp>
        <p:nvSpPr>
          <p:cNvPr id="13" name="Shape 11"/>
          <p:cNvSpPr/>
          <p:nvPr>
            <p:custDataLst>
              <p:tags r:id="rId6"/>
            </p:custDataLst>
          </p:nvPr>
        </p:nvSpPr>
        <p:spPr>
          <a:xfrm>
            <a:off x="548640" y="3886200"/>
            <a:ext cx="4206240" cy="1090930"/>
          </a:xfrm>
          <a:prstGeom prst="roundRect">
            <a:avLst>
              <a:gd name="adj" fmla="val 6395"/>
            </a:avLst>
          </a:prstGeom>
          <a:solidFill>
            <a:srgbClr val="FCFAF5"/>
          </a:solidFill>
          <a:ln w="9525">
            <a:solidFill>
              <a:srgbClr val="D9D1C3"/>
            </a:solidFill>
            <a:prstDash val="solid"/>
          </a:ln>
        </p:spPr>
      </p:sp>
      <p:sp>
        <p:nvSpPr>
          <p:cNvPr id="14" name="Shape 12"/>
          <p:cNvSpPr/>
          <p:nvPr>
            <p:custDataLst>
              <p:tags r:id="rId7"/>
            </p:custDataLst>
          </p:nvPr>
        </p:nvSpPr>
        <p:spPr>
          <a:xfrm>
            <a:off x="731520" y="4087368"/>
            <a:ext cx="502920" cy="457200"/>
          </a:xfrm>
          <a:prstGeom prst="roundRect">
            <a:avLst>
              <a:gd name="adj" fmla="val 12000"/>
            </a:avLst>
          </a:prstGeom>
          <a:solidFill>
            <a:srgbClr val="F7F3EC"/>
          </a:solidFill>
          <a:ln w="7620">
            <a:solidFill>
              <a:srgbClr val="C7BFAF"/>
            </a:solidFill>
            <a:prstDash val="solid"/>
          </a:ln>
        </p:spPr>
      </p:sp>
      <p:sp>
        <p:nvSpPr>
          <p:cNvPr id="15" name="Text 13"/>
          <p:cNvSpPr/>
          <p:nvPr>
            <p:custDataLst>
              <p:tags r:id="rId8"/>
            </p:custDataLst>
          </p:nvPr>
        </p:nvSpPr>
        <p:spPr>
          <a:xfrm>
            <a:off x="731520" y="4242816"/>
            <a:ext cx="502920" cy="109728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1264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CSV</a:t>
            </a:r>
            <a:endParaRPr lang="en-US" sz="1100" dirty="0"/>
          </a:p>
        </p:txBody>
      </p:sp>
      <p:sp>
        <p:nvSpPr>
          <p:cNvPr id="16" name="Text 14"/>
          <p:cNvSpPr/>
          <p:nvPr>
            <p:custDataLst>
              <p:tags r:id="rId9"/>
            </p:custDataLst>
          </p:nvPr>
        </p:nvSpPr>
        <p:spPr>
          <a:xfrm>
            <a:off x="1389888" y="4114800"/>
            <a:ext cx="3154680" cy="292608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450" b="1" dirty="0">
                <a:solidFill>
                  <a:srgbClr val="112642"/>
                </a:solidFill>
                <a:latin typeface="Georgia" panose="02040502050405020303" pitchFamily="34" charset="0"/>
                <a:ea typeface="Georgia" panose="02040502050405020303" pitchFamily="34" charset="-122"/>
                <a:cs typeface="Georgia" panose="02040502050405020303" pitchFamily="34" charset="-120"/>
              </a:rPr>
              <a:t>Экспорт для Excel</a:t>
            </a:r>
            <a:endParaRPr lang="en-US" sz="1450" dirty="0"/>
          </a:p>
        </p:txBody>
      </p:sp>
      <p:sp>
        <p:nvSpPr>
          <p:cNvPr id="17" name="Text 15"/>
          <p:cNvSpPr/>
          <p:nvPr>
            <p:custDataLst>
              <p:tags r:id="rId10"/>
            </p:custDataLst>
          </p:nvPr>
        </p:nvSpPr>
        <p:spPr>
          <a:xfrm>
            <a:off x="804672" y="4544568"/>
            <a:ext cx="3703320" cy="9144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040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CSV позволяет фильтровать, сортировать и анализировать данные вне системы.</a:t>
            </a:r>
            <a:endParaRPr lang="en-US" sz="1040" dirty="0"/>
          </a:p>
        </p:txBody>
      </p:sp>
      <p:sp>
        <p:nvSpPr>
          <p:cNvPr id="18" name="Shape 16"/>
          <p:cNvSpPr/>
          <p:nvPr>
            <p:custDataLst>
              <p:tags r:id="rId11"/>
            </p:custDataLst>
          </p:nvPr>
        </p:nvSpPr>
        <p:spPr>
          <a:xfrm>
            <a:off x="548640" y="5001895"/>
            <a:ext cx="4206240" cy="918845"/>
          </a:xfrm>
          <a:prstGeom prst="roundRect">
            <a:avLst>
              <a:gd name="adj" fmla="val 6395"/>
            </a:avLst>
          </a:prstGeom>
          <a:solidFill>
            <a:srgbClr val="FCFAF5"/>
          </a:solidFill>
          <a:ln w="9525">
            <a:solidFill>
              <a:srgbClr val="D9D1C3"/>
            </a:solidFill>
            <a:prstDash val="solid"/>
          </a:ln>
        </p:spPr>
      </p:sp>
      <p:sp>
        <p:nvSpPr>
          <p:cNvPr id="19" name="Shape 17"/>
          <p:cNvSpPr/>
          <p:nvPr>
            <p:custDataLst>
              <p:tags r:id="rId12"/>
            </p:custDataLst>
          </p:nvPr>
        </p:nvSpPr>
        <p:spPr>
          <a:xfrm>
            <a:off x="731520" y="5047488"/>
            <a:ext cx="502920" cy="457200"/>
          </a:xfrm>
          <a:prstGeom prst="roundRect">
            <a:avLst>
              <a:gd name="adj" fmla="val 12000"/>
            </a:avLst>
          </a:prstGeom>
          <a:solidFill>
            <a:srgbClr val="F7F3EC"/>
          </a:solidFill>
          <a:ln w="7620">
            <a:solidFill>
              <a:srgbClr val="C7BFAF"/>
            </a:solidFill>
            <a:prstDash val="solid"/>
          </a:ln>
        </p:spPr>
      </p:sp>
      <p:sp>
        <p:nvSpPr>
          <p:cNvPr id="20" name="Text 18"/>
          <p:cNvSpPr/>
          <p:nvPr>
            <p:custDataLst>
              <p:tags r:id="rId13"/>
            </p:custDataLst>
          </p:nvPr>
        </p:nvSpPr>
        <p:spPr>
          <a:xfrm>
            <a:off x="731520" y="5202936"/>
            <a:ext cx="502920" cy="109728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1264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LOG</a:t>
            </a:r>
            <a:endParaRPr lang="en-US" sz="1100" dirty="0"/>
          </a:p>
        </p:txBody>
      </p:sp>
      <p:sp>
        <p:nvSpPr>
          <p:cNvPr id="21" name="Text 19"/>
          <p:cNvSpPr/>
          <p:nvPr>
            <p:custDataLst>
              <p:tags r:id="rId14"/>
            </p:custDataLst>
          </p:nvPr>
        </p:nvSpPr>
        <p:spPr>
          <a:xfrm>
            <a:off x="1389888" y="5074920"/>
            <a:ext cx="3154680" cy="292608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450" b="1" dirty="0">
                <a:solidFill>
                  <a:srgbClr val="112642"/>
                </a:solidFill>
                <a:latin typeface="Georgia" panose="02040502050405020303" pitchFamily="34" charset="0"/>
                <a:ea typeface="Georgia" panose="02040502050405020303" pitchFamily="34" charset="-122"/>
                <a:cs typeface="Georgia" panose="02040502050405020303" pitchFamily="34" charset="-120"/>
              </a:rPr>
              <a:t>Журнал действий</a:t>
            </a:r>
            <a:endParaRPr lang="en-US" sz="1450" dirty="0"/>
          </a:p>
        </p:txBody>
      </p:sp>
      <p:sp>
        <p:nvSpPr>
          <p:cNvPr id="22" name="Text 20"/>
          <p:cNvSpPr/>
          <p:nvPr>
            <p:custDataLst>
              <p:tags r:id="rId15"/>
            </p:custDataLst>
          </p:nvPr>
        </p:nvSpPr>
        <p:spPr>
          <a:xfrm>
            <a:off x="804672" y="5504688"/>
            <a:ext cx="3703320" cy="9144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040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Audit log показывает, кто и когда выполнил важное действие.</a:t>
            </a:r>
            <a:endParaRPr lang="en-US" sz="1040" dirty="0"/>
          </a:p>
        </p:txBody>
      </p:sp>
      <p:sp>
        <p:nvSpPr>
          <p:cNvPr id="23" name="Shape 21"/>
          <p:cNvSpPr/>
          <p:nvPr/>
        </p:nvSpPr>
        <p:spPr>
          <a:xfrm>
            <a:off x="5166360" y="868680"/>
            <a:ext cx="6217920" cy="2514600"/>
          </a:xfrm>
          <a:prstGeom prst="roundRect">
            <a:avLst>
              <a:gd name="adj" fmla="val 2000"/>
            </a:avLst>
          </a:prstGeom>
          <a:solidFill>
            <a:srgbClr val="FCFAF5"/>
          </a:solidFill>
          <a:ln w="9525">
            <a:solidFill>
              <a:srgbClr val="D9D1C3"/>
            </a:solidFill>
            <a:prstDash val="solid"/>
          </a:ln>
          <a:effectLst>
            <a:outerShdw blurRad="25400" dist="50800" dir="2700000" algn="bl" rotWithShape="0">
              <a:srgbClr val="C8BFAF">
                <a:alpha val="13000"/>
              </a:srgbClr>
            </a:outerShdw>
          </a:effectLst>
        </p:spPr>
      </p:sp>
      <p:pic>
        <p:nvPicPr>
          <p:cNvPr id="24" name="Image 0" descr="/mnt/data/08-reports(1).png"/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6570147" y="941832"/>
            <a:ext cx="3410346" cy="2368296"/>
          </a:xfrm>
          <a:prstGeom prst="rect">
            <a:avLst/>
          </a:prstGeom>
        </p:spPr>
      </p:pic>
      <p:sp>
        <p:nvSpPr>
          <p:cNvPr id="25" name="Shape 22"/>
          <p:cNvSpPr/>
          <p:nvPr/>
        </p:nvSpPr>
        <p:spPr>
          <a:xfrm>
            <a:off x="5166360" y="3703320"/>
            <a:ext cx="6217920" cy="2286000"/>
          </a:xfrm>
          <a:prstGeom prst="roundRect">
            <a:avLst>
              <a:gd name="adj" fmla="val 2200"/>
            </a:avLst>
          </a:prstGeom>
          <a:solidFill>
            <a:srgbClr val="FCFAF5"/>
          </a:solidFill>
          <a:ln w="9525">
            <a:solidFill>
              <a:srgbClr val="D9D1C3"/>
            </a:solidFill>
            <a:prstDash val="solid"/>
          </a:ln>
          <a:effectLst>
            <a:outerShdw blurRad="25400" dist="50800" dir="2700000" algn="bl" rotWithShape="0">
              <a:srgbClr val="C8BFAF">
                <a:alpha val="13000"/>
              </a:srgbClr>
            </a:outerShdw>
          </a:effectLst>
        </p:spPr>
      </p:sp>
      <p:pic>
        <p:nvPicPr>
          <p:cNvPr id="26" name="Image 1" descr="/mnt/data/09-audit-log(1).png"/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6843553" y="3776472"/>
            <a:ext cx="2863534" cy="2139696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3E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278130" y="182880"/>
            <a:ext cx="11734495" cy="6492240"/>
          </a:xfrm>
          <a:prstGeom prst="roundRect">
            <a:avLst>
              <a:gd name="adj" fmla="val 704"/>
            </a:avLst>
          </a:prstGeom>
          <a:solidFill>
            <a:srgbClr val="F7F3EC">
              <a:alpha val="0"/>
            </a:srgbClr>
          </a:solidFill>
          <a:ln w="9525">
            <a:solidFill>
              <a:srgbClr val="D9D1C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1533327" y="384048"/>
            <a:ext cx="329184" cy="1828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50" dirty="0">
                <a:solidFill>
                  <a:srgbClr val="11264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10</a:t>
            </a:r>
            <a:endParaRPr lang="en-US" sz="1050" dirty="0"/>
          </a:p>
        </p:txBody>
      </p:sp>
      <p:sp>
        <p:nvSpPr>
          <p:cNvPr id="4" name="Text 2"/>
          <p:cNvSpPr/>
          <p:nvPr/>
        </p:nvSpPr>
        <p:spPr>
          <a:xfrm>
            <a:off x="530352" y="566928"/>
            <a:ext cx="3657600" cy="201168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850" b="1" dirty="0">
                <a:solidFill>
                  <a:srgbClr val="7A726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АРХИТЕКТУРА И ДАННЫЕ</a:t>
            </a:r>
            <a:endParaRPr lang="en-US" sz="850" dirty="0"/>
          </a:p>
        </p:txBody>
      </p:sp>
      <p:sp>
        <p:nvSpPr>
          <p:cNvPr id="5" name="Text 3"/>
          <p:cNvSpPr/>
          <p:nvPr/>
        </p:nvSpPr>
        <p:spPr>
          <a:xfrm>
            <a:off x="530352" y="877824"/>
            <a:ext cx="5212080" cy="658368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3200" b="1" dirty="0">
                <a:solidFill>
                  <a:srgbClr val="112642"/>
                </a:solidFill>
                <a:latin typeface="Georgia" panose="02040502050405020303" pitchFamily="34" charset="0"/>
                <a:ea typeface="Georgia" panose="02040502050405020303" pitchFamily="34" charset="-122"/>
                <a:cs typeface="Georgia" panose="02040502050405020303" pitchFamily="34" charset="-120"/>
              </a:rPr>
              <a:t>Как устроен проект</a:t>
            </a:r>
            <a:endParaRPr lang="en-US" sz="3200" dirty="0"/>
          </a:p>
        </p:txBody>
      </p:sp>
      <p:sp>
        <p:nvSpPr>
          <p:cNvPr id="6" name="Shape 4"/>
          <p:cNvSpPr/>
          <p:nvPr/>
        </p:nvSpPr>
        <p:spPr>
          <a:xfrm>
            <a:off x="530352" y="1591056"/>
            <a:ext cx="457200" cy="22860"/>
          </a:xfrm>
          <a:prstGeom prst="rect">
            <a:avLst/>
          </a:prstGeom>
          <a:solidFill>
            <a:srgbClr val="112642"/>
          </a:solidFill>
          <a:ln w="12700">
            <a:solidFill>
              <a:srgbClr val="112642">
                <a:alpha val="0"/>
              </a:srgbClr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48640" y="1755648"/>
            <a:ext cx="5303520" cy="502920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320" dirty="0">
                <a:solidFill>
                  <a:srgbClr val="111827"/>
                </a:solidFill>
                <a:latin typeface="Georgia" panose="02040502050405020303" pitchFamily="34" charset="0"/>
                <a:ea typeface="Georgia" panose="02040502050405020303" pitchFamily="34" charset="-122"/>
                <a:cs typeface="Georgia" panose="02040502050405020303" pitchFamily="34" charset="-120"/>
              </a:rPr>
              <a:t>Fullstack-система: frontend отвечает за интерфейс, backend — за бизнес-логику и права доступа, PostgreSQL хранит данные, Docker запускает окружение.</a:t>
            </a:r>
            <a:endParaRPr lang="en-US" sz="1320" dirty="0"/>
          </a:p>
        </p:txBody>
      </p:sp>
      <p:sp>
        <p:nvSpPr>
          <p:cNvPr id="8" name="Shape 6"/>
          <p:cNvSpPr/>
          <p:nvPr/>
        </p:nvSpPr>
        <p:spPr>
          <a:xfrm>
            <a:off x="2468880" y="3044952"/>
            <a:ext cx="685800" cy="0"/>
          </a:xfrm>
          <a:prstGeom prst="line">
            <a:avLst/>
          </a:prstGeom>
          <a:noFill/>
          <a:ln w="13970">
            <a:solidFill>
              <a:srgbClr val="112642"/>
            </a:solidFill>
            <a:prstDash val="solid"/>
            <a:tailEnd type="triangle"/>
          </a:ln>
        </p:spPr>
      </p:sp>
      <p:sp>
        <p:nvSpPr>
          <p:cNvPr id="9" name="Shape 7"/>
          <p:cNvSpPr/>
          <p:nvPr/>
        </p:nvSpPr>
        <p:spPr>
          <a:xfrm>
            <a:off x="4892040" y="3044952"/>
            <a:ext cx="731520" cy="0"/>
          </a:xfrm>
          <a:prstGeom prst="line">
            <a:avLst/>
          </a:prstGeom>
          <a:noFill/>
          <a:ln w="13970">
            <a:solidFill>
              <a:srgbClr val="112642"/>
            </a:solidFill>
            <a:prstDash val="solid"/>
            <a:tailEnd type="triangle"/>
          </a:ln>
        </p:spPr>
      </p:sp>
      <p:sp>
        <p:nvSpPr>
          <p:cNvPr id="10" name="Shape 8"/>
          <p:cNvSpPr/>
          <p:nvPr/>
        </p:nvSpPr>
        <p:spPr>
          <a:xfrm>
            <a:off x="7360920" y="3044952"/>
            <a:ext cx="731520" cy="0"/>
          </a:xfrm>
          <a:prstGeom prst="line">
            <a:avLst/>
          </a:prstGeom>
          <a:noFill/>
          <a:ln w="13970">
            <a:solidFill>
              <a:srgbClr val="112642"/>
            </a:solidFill>
            <a:prstDash val="solid"/>
            <a:tailEnd type="triangle"/>
          </a:ln>
        </p:spPr>
      </p:sp>
      <p:sp>
        <p:nvSpPr>
          <p:cNvPr id="11" name="Shape 9"/>
          <p:cNvSpPr/>
          <p:nvPr/>
        </p:nvSpPr>
        <p:spPr>
          <a:xfrm>
            <a:off x="7360920" y="4078224"/>
            <a:ext cx="731520" cy="338328"/>
          </a:xfrm>
          <a:prstGeom prst="line">
            <a:avLst/>
          </a:prstGeom>
          <a:noFill/>
          <a:ln w="13970">
            <a:solidFill>
              <a:srgbClr val="112642"/>
            </a:solidFill>
            <a:prstDash val="solid"/>
            <a:tailEnd type="triangle"/>
          </a:ln>
        </p:spPr>
      </p:sp>
      <p:sp>
        <p:nvSpPr>
          <p:cNvPr id="12" name="Shape 10"/>
          <p:cNvSpPr/>
          <p:nvPr/>
        </p:nvSpPr>
        <p:spPr>
          <a:xfrm>
            <a:off x="9921240" y="3044952"/>
            <a:ext cx="502920" cy="393192"/>
          </a:xfrm>
          <a:prstGeom prst="line">
            <a:avLst/>
          </a:prstGeom>
          <a:noFill/>
          <a:ln w="13970">
            <a:solidFill>
              <a:srgbClr val="112642"/>
            </a:solidFill>
            <a:prstDash val="solid"/>
            <a:tailEnd type="triangle"/>
          </a:ln>
        </p:spPr>
      </p:sp>
      <p:sp>
        <p:nvSpPr>
          <p:cNvPr id="13" name="Shape 11"/>
          <p:cNvSpPr/>
          <p:nvPr/>
        </p:nvSpPr>
        <p:spPr>
          <a:xfrm>
            <a:off x="594360" y="2514600"/>
            <a:ext cx="1874520" cy="1365250"/>
          </a:xfrm>
          <a:prstGeom prst="roundRect">
            <a:avLst>
              <a:gd name="adj" fmla="val 5000"/>
            </a:avLst>
          </a:prstGeom>
          <a:solidFill>
            <a:srgbClr val="FCFAF5"/>
          </a:solidFill>
          <a:ln w="9525">
            <a:solidFill>
              <a:srgbClr val="D9D1C3"/>
            </a:solidFill>
            <a:prstDash val="solid"/>
          </a:ln>
          <a:effectLst>
            <a:outerShdw blurRad="25400" dist="50800" dir="2700000" algn="bl" rotWithShape="0">
              <a:srgbClr val="C8BFAF">
                <a:alpha val="13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758952" y="2743200"/>
            <a:ext cx="457200" cy="420624"/>
          </a:xfrm>
          <a:prstGeom prst="roundRect">
            <a:avLst>
              <a:gd name="adj" fmla="val 13043"/>
            </a:avLst>
          </a:prstGeom>
          <a:solidFill>
            <a:srgbClr val="112642"/>
          </a:solidFill>
          <a:ln w="7620">
            <a:solidFill>
              <a:srgbClr val="112642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758952" y="2871216"/>
            <a:ext cx="457200" cy="109728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UI</a:t>
            </a:r>
            <a:endParaRPr lang="en-US" sz="850" dirty="0"/>
          </a:p>
        </p:txBody>
      </p:sp>
      <p:sp>
        <p:nvSpPr>
          <p:cNvPr id="16" name="Text 14"/>
          <p:cNvSpPr/>
          <p:nvPr/>
        </p:nvSpPr>
        <p:spPr>
          <a:xfrm>
            <a:off x="1344168" y="2697480"/>
            <a:ext cx="960120" cy="201168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380" b="1" dirty="0">
                <a:solidFill>
                  <a:srgbClr val="112642"/>
                </a:solidFill>
                <a:latin typeface="Georgia" panose="02040502050405020303" pitchFamily="34" charset="0"/>
                <a:ea typeface="Georgia" panose="02040502050405020303" pitchFamily="34" charset="-122"/>
                <a:cs typeface="Georgia" panose="02040502050405020303" pitchFamily="34" charset="-120"/>
              </a:rPr>
              <a:t>Frontend</a:t>
            </a:r>
            <a:endParaRPr lang="en-US" sz="1380" dirty="0"/>
          </a:p>
        </p:txBody>
      </p:sp>
      <p:sp>
        <p:nvSpPr>
          <p:cNvPr id="17" name="Text 15"/>
          <p:cNvSpPr/>
          <p:nvPr/>
        </p:nvSpPr>
        <p:spPr>
          <a:xfrm>
            <a:off x="1344168" y="2990088"/>
            <a:ext cx="1005840" cy="411480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960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React · TypeScript · Vite</a:t>
            </a:r>
            <a:endParaRPr lang="en-US" sz="960" dirty="0"/>
          </a:p>
          <a:p>
            <a:pPr marL="0" indent="0" algn="l">
              <a:buNone/>
            </a:pPr>
            <a:r>
              <a:rPr lang="en-US" sz="960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страницы, таблицы, формы</a:t>
            </a:r>
            <a:endParaRPr lang="en-US" sz="960" dirty="0"/>
          </a:p>
        </p:txBody>
      </p:sp>
      <p:sp>
        <p:nvSpPr>
          <p:cNvPr id="18" name="Shape 16"/>
          <p:cNvSpPr/>
          <p:nvPr/>
        </p:nvSpPr>
        <p:spPr>
          <a:xfrm>
            <a:off x="3154680" y="2514600"/>
            <a:ext cx="1737360" cy="1391285"/>
          </a:xfrm>
          <a:prstGeom prst="roundRect">
            <a:avLst>
              <a:gd name="adj" fmla="val 5000"/>
            </a:avLst>
          </a:prstGeom>
          <a:solidFill>
            <a:srgbClr val="FCFAF5"/>
          </a:solidFill>
          <a:ln w="9525">
            <a:solidFill>
              <a:srgbClr val="D9D1C3"/>
            </a:solidFill>
            <a:prstDash val="solid"/>
          </a:ln>
          <a:effectLst>
            <a:outerShdw blurRad="25400" dist="50800" dir="2700000" algn="bl" rotWithShape="0">
              <a:srgbClr val="C8BFAF">
                <a:alpha val="13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3319272" y="2743200"/>
            <a:ext cx="457200" cy="420624"/>
          </a:xfrm>
          <a:prstGeom prst="roundRect">
            <a:avLst>
              <a:gd name="adj" fmla="val 13043"/>
            </a:avLst>
          </a:prstGeom>
          <a:solidFill>
            <a:srgbClr val="112642"/>
          </a:solidFill>
          <a:ln w="7620">
            <a:solidFill>
              <a:srgbClr val="112642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3319272" y="2871216"/>
            <a:ext cx="457200" cy="109728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API</a:t>
            </a:r>
            <a:endParaRPr lang="en-US" sz="850" dirty="0"/>
          </a:p>
        </p:txBody>
      </p:sp>
      <p:sp>
        <p:nvSpPr>
          <p:cNvPr id="21" name="Text 19"/>
          <p:cNvSpPr/>
          <p:nvPr/>
        </p:nvSpPr>
        <p:spPr>
          <a:xfrm>
            <a:off x="3904488" y="2697480"/>
            <a:ext cx="822960" cy="201168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380" b="1" dirty="0">
                <a:solidFill>
                  <a:srgbClr val="112642"/>
                </a:solidFill>
                <a:latin typeface="Georgia" panose="02040502050405020303" pitchFamily="34" charset="0"/>
                <a:ea typeface="Georgia" panose="02040502050405020303" pitchFamily="34" charset="-122"/>
                <a:cs typeface="Georgia" panose="02040502050405020303" pitchFamily="34" charset="-120"/>
              </a:rPr>
              <a:t>Backend API</a:t>
            </a:r>
            <a:endParaRPr lang="en-US" sz="1380" dirty="0"/>
          </a:p>
        </p:txBody>
      </p:sp>
      <p:sp>
        <p:nvSpPr>
          <p:cNvPr id="22" name="Text 20"/>
          <p:cNvSpPr/>
          <p:nvPr/>
        </p:nvSpPr>
        <p:spPr>
          <a:xfrm>
            <a:off x="3904488" y="3108833"/>
            <a:ext cx="868680" cy="411480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960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Node.js · Express</a:t>
            </a:r>
            <a:endParaRPr lang="en-US" sz="960" dirty="0"/>
          </a:p>
          <a:p>
            <a:pPr marL="0" indent="0" algn="l">
              <a:buNone/>
            </a:pPr>
            <a:r>
              <a:rPr lang="en-US" sz="960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JWT, RBAC, controllers</a:t>
            </a:r>
            <a:endParaRPr lang="en-US" sz="960" dirty="0"/>
          </a:p>
        </p:txBody>
      </p:sp>
      <p:sp>
        <p:nvSpPr>
          <p:cNvPr id="23" name="Shape 21"/>
          <p:cNvSpPr/>
          <p:nvPr/>
        </p:nvSpPr>
        <p:spPr>
          <a:xfrm>
            <a:off x="5623560" y="2514600"/>
            <a:ext cx="1737360" cy="1389380"/>
          </a:xfrm>
          <a:prstGeom prst="roundRect">
            <a:avLst>
              <a:gd name="adj" fmla="val 5000"/>
            </a:avLst>
          </a:prstGeom>
          <a:solidFill>
            <a:srgbClr val="FCFAF5"/>
          </a:solidFill>
          <a:ln w="9525">
            <a:solidFill>
              <a:srgbClr val="D9D1C3"/>
            </a:solidFill>
            <a:prstDash val="solid"/>
          </a:ln>
          <a:effectLst>
            <a:outerShdw blurRad="25400" dist="50800" dir="2700000" algn="bl" rotWithShape="0">
              <a:srgbClr val="C8BFAF">
                <a:alpha val="13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5788152" y="2743200"/>
            <a:ext cx="457200" cy="420624"/>
          </a:xfrm>
          <a:prstGeom prst="roundRect">
            <a:avLst>
              <a:gd name="adj" fmla="val 13043"/>
            </a:avLst>
          </a:prstGeom>
          <a:solidFill>
            <a:srgbClr val="112642"/>
          </a:solidFill>
          <a:ln w="7620">
            <a:solidFill>
              <a:srgbClr val="112642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5788152" y="2871216"/>
            <a:ext cx="457200" cy="109728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ORM</a:t>
            </a:r>
            <a:endParaRPr lang="en-US" sz="850" dirty="0"/>
          </a:p>
        </p:txBody>
      </p:sp>
      <p:sp>
        <p:nvSpPr>
          <p:cNvPr id="26" name="Text 24"/>
          <p:cNvSpPr/>
          <p:nvPr/>
        </p:nvSpPr>
        <p:spPr>
          <a:xfrm>
            <a:off x="6373368" y="2697480"/>
            <a:ext cx="822960" cy="201168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380" b="1" dirty="0">
                <a:solidFill>
                  <a:srgbClr val="112642"/>
                </a:solidFill>
                <a:latin typeface="Georgia" panose="02040502050405020303" pitchFamily="34" charset="0"/>
                <a:ea typeface="Georgia" panose="02040502050405020303" pitchFamily="34" charset="-122"/>
                <a:cs typeface="Georgia" panose="02040502050405020303" pitchFamily="34" charset="-120"/>
              </a:rPr>
              <a:t>Prisma</a:t>
            </a:r>
            <a:endParaRPr lang="en-US" sz="1380" dirty="0"/>
          </a:p>
        </p:txBody>
      </p:sp>
      <p:sp>
        <p:nvSpPr>
          <p:cNvPr id="27" name="Text 25"/>
          <p:cNvSpPr/>
          <p:nvPr/>
        </p:nvSpPr>
        <p:spPr>
          <a:xfrm>
            <a:off x="6373368" y="2990088"/>
            <a:ext cx="868680" cy="411480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960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ORM-слой и транзакции</a:t>
            </a:r>
            <a:endParaRPr lang="en-US" sz="960" dirty="0"/>
          </a:p>
          <a:p>
            <a:pPr marL="0" indent="0" algn="l">
              <a:buNone/>
            </a:pPr>
            <a:r>
              <a:rPr lang="en-US" sz="960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для безопасных операций</a:t>
            </a:r>
            <a:endParaRPr lang="en-US" sz="960" dirty="0"/>
          </a:p>
        </p:txBody>
      </p:sp>
      <p:sp>
        <p:nvSpPr>
          <p:cNvPr id="28" name="Shape 26"/>
          <p:cNvSpPr/>
          <p:nvPr/>
        </p:nvSpPr>
        <p:spPr>
          <a:xfrm>
            <a:off x="8092440" y="2331720"/>
            <a:ext cx="1828800" cy="1548130"/>
          </a:xfrm>
          <a:prstGeom prst="roundRect">
            <a:avLst>
              <a:gd name="adj" fmla="val 5000"/>
            </a:avLst>
          </a:prstGeom>
          <a:solidFill>
            <a:srgbClr val="FCFAF5"/>
          </a:solidFill>
          <a:ln w="9525">
            <a:solidFill>
              <a:srgbClr val="D9D1C3"/>
            </a:solidFill>
            <a:prstDash val="solid"/>
          </a:ln>
          <a:effectLst>
            <a:outerShdw blurRad="25400" dist="50800" dir="2700000" algn="bl" rotWithShape="0">
              <a:srgbClr val="C8BFAF">
                <a:alpha val="13000"/>
              </a:srgbClr>
            </a:outerShdw>
          </a:effectLst>
        </p:spPr>
      </p:sp>
      <p:sp>
        <p:nvSpPr>
          <p:cNvPr id="29" name="Shape 27"/>
          <p:cNvSpPr/>
          <p:nvPr/>
        </p:nvSpPr>
        <p:spPr>
          <a:xfrm>
            <a:off x="8257032" y="2560320"/>
            <a:ext cx="457200" cy="420624"/>
          </a:xfrm>
          <a:prstGeom prst="roundRect">
            <a:avLst>
              <a:gd name="adj" fmla="val 13043"/>
            </a:avLst>
          </a:prstGeom>
          <a:solidFill>
            <a:srgbClr val="112642"/>
          </a:solidFill>
          <a:ln w="7620">
            <a:solidFill>
              <a:srgbClr val="112642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8257032" y="2688336"/>
            <a:ext cx="457200" cy="109728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DB</a:t>
            </a:r>
            <a:endParaRPr lang="en-US" sz="850" dirty="0"/>
          </a:p>
        </p:txBody>
      </p:sp>
      <p:sp>
        <p:nvSpPr>
          <p:cNvPr id="31" name="Text 29"/>
          <p:cNvSpPr/>
          <p:nvPr/>
        </p:nvSpPr>
        <p:spPr>
          <a:xfrm>
            <a:off x="8842248" y="2514600"/>
            <a:ext cx="914400" cy="201168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380" b="1" dirty="0">
                <a:solidFill>
                  <a:srgbClr val="112642"/>
                </a:solidFill>
                <a:latin typeface="Georgia" panose="02040502050405020303" pitchFamily="34" charset="0"/>
                <a:ea typeface="Georgia" panose="02040502050405020303" pitchFamily="34" charset="-122"/>
                <a:cs typeface="Georgia" panose="02040502050405020303" pitchFamily="34" charset="-120"/>
              </a:rPr>
              <a:t>PostgreSQL</a:t>
            </a:r>
            <a:endParaRPr lang="en-US" sz="1380" dirty="0"/>
          </a:p>
        </p:txBody>
      </p:sp>
      <p:sp>
        <p:nvSpPr>
          <p:cNvPr id="32" name="Text 30"/>
          <p:cNvSpPr/>
          <p:nvPr/>
        </p:nvSpPr>
        <p:spPr>
          <a:xfrm>
            <a:off x="8842248" y="2962783"/>
            <a:ext cx="960120" cy="411480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960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Пользователи, активы,</a:t>
            </a:r>
            <a:endParaRPr lang="en-US" sz="960" dirty="0"/>
          </a:p>
          <a:p>
            <a:pPr marL="0" indent="0" algn="l">
              <a:buNone/>
            </a:pPr>
            <a:r>
              <a:rPr lang="en-US" sz="960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выдачи, ремонты, проверки</a:t>
            </a:r>
            <a:endParaRPr lang="en-US" sz="960" dirty="0"/>
          </a:p>
        </p:txBody>
      </p:sp>
      <p:sp>
        <p:nvSpPr>
          <p:cNvPr id="33" name="Shape 31"/>
          <p:cNvSpPr/>
          <p:nvPr/>
        </p:nvSpPr>
        <p:spPr>
          <a:xfrm>
            <a:off x="8092440" y="3950208"/>
            <a:ext cx="1828800" cy="1005840"/>
          </a:xfrm>
          <a:prstGeom prst="roundRect">
            <a:avLst>
              <a:gd name="adj" fmla="val 5000"/>
            </a:avLst>
          </a:prstGeom>
          <a:solidFill>
            <a:srgbClr val="FCFAF5"/>
          </a:solidFill>
          <a:ln w="9525">
            <a:solidFill>
              <a:srgbClr val="D9D1C3"/>
            </a:solidFill>
            <a:prstDash val="solid"/>
          </a:ln>
          <a:effectLst>
            <a:outerShdw blurRad="25400" dist="50800" dir="2700000" algn="bl" rotWithShape="0">
              <a:srgbClr val="C8BFAF">
                <a:alpha val="13000"/>
              </a:srgbClr>
            </a:outerShdw>
          </a:effectLst>
        </p:spPr>
      </p:sp>
      <p:sp>
        <p:nvSpPr>
          <p:cNvPr id="34" name="Shape 32"/>
          <p:cNvSpPr/>
          <p:nvPr/>
        </p:nvSpPr>
        <p:spPr>
          <a:xfrm>
            <a:off x="8257032" y="4178808"/>
            <a:ext cx="457200" cy="420624"/>
          </a:xfrm>
          <a:prstGeom prst="roundRect">
            <a:avLst>
              <a:gd name="adj" fmla="val 13043"/>
            </a:avLst>
          </a:prstGeom>
          <a:solidFill>
            <a:srgbClr val="112642"/>
          </a:solidFill>
          <a:ln w="7620">
            <a:solidFill>
              <a:srgbClr val="112642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8257032" y="4306824"/>
            <a:ext cx="457200" cy="109728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PDF</a:t>
            </a:r>
            <a:endParaRPr lang="en-US" sz="850" dirty="0"/>
          </a:p>
        </p:txBody>
      </p:sp>
      <p:sp>
        <p:nvSpPr>
          <p:cNvPr id="36" name="Text 34"/>
          <p:cNvSpPr/>
          <p:nvPr/>
        </p:nvSpPr>
        <p:spPr>
          <a:xfrm>
            <a:off x="8842248" y="4133088"/>
            <a:ext cx="914400" cy="201168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380" b="1" dirty="0">
                <a:solidFill>
                  <a:srgbClr val="112642"/>
                </a:solidFill>
                <a:latin typeface="Georgia" panose="02040502050405020303" pitchFamily="34" charset="0"/>
                <a:ea typeface="Georgia" panose="02040502050405020303" pitchFamily="34" charset="-122"/>
                <a:cs typeface="Georgia" panose="02040502050405020303" pitchFamily="34" charset="-120"/>
              </a:rPr>
              <a:t>Reports</a:t>
            </a:r>
            <a:endParaRPr lang="en-US" sz="1380" dirty="0"/>
          </a:p>
        </p:txBody>
      </p:sp>
      <p:sp>
        <p:nvSpPr>
          <p:cNvPr id="37" name="Text 35"/>
          <p:cNvSpPr/>
          <p:nvPr/>
        </p:nvSpPr>
        <p:spPr>
          <a:xfrm>
            <a:off x="8842248" y="4425696"/>
            <a:ext cx="960120" cy="411480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960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CSV/PDF экспорт</a:t>
            </a:r>
            <a:endParaRPr lang="en-US" sz="960" dirty="0"/>
          </a:p>
          <a:p>
            <a:pPr marL="0" indent="0" algn="l">
              <a:buNone/>
            </a:pPr>
            <a:r>
              <a:rPr lang="en-US" sz="960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для Excel и печати</a:t>
            </a:r>
            <a:endParaRPr lang="en-US" sz="960" dirty="0"/>
          </a:p>
        </p:txBody>
      </p:sp>
      <p:sp>
        <p:nvSpPr>
          <p:cNvPr id="38" name="Shape 36"/>
          <p:cNvSpPr/>
          <p:nvPr/>
        </p:nvSpPr>
        <p:spPr>
          <a:xfrm>
            <a:off x="10424160" y="3017520"/>
            <a:ext cx="1441450" cy="1416050"/>
          </a:xfrm>
          <a:prstGeom prst="roundRect">
            <a:avLst>
              <a:gd name="adj" fmla="val 5000"/>
            </a:avLst>
          </a:prstGeom>
          <a:solidFill>
            <a:srgbClr val="FCFAF5"/>
          </a:solidFill>
          <a:ln w="9525">
            <a:solidFill>
              <a:srgbClr val="D9D1C3"/>
            </a:solidFill>
            <a:prstDash val="solid"/>
          </a:ln>
          <a:effectLst>
            <a:outerShdw blurRad="25400" dist="50800" dir="2700000" algn="bl" rotWithShape="0">
              <a:srgbClr val="C8BFAF">
                <a:alpha val="13000"/>
              </a:srgbClr>
            </a:outerShdw>
          </a:effectLst>
        </p:spPr>
      </p:sp>
      <p:sp>
        <p:nvSpPr>
          <p:cNvPr id="39" name="Shape 37"/>
          <p:cNvSpPr/>
          <p:nvPr/>
        </p:nvSpPr>
        <p:spPr>
          <a:xfrm>
            <a:off x="10588752" y="3246120"/>
            <a:ext cx="457200" cy="420624"/>
          </a:xfrm>
          <a:prstGeom prst="roundRect">
            <a:avLst>
              <a:gd name="adj" fmla="val 13043"/>
            </a:avLst>
          </a:prstGeom>
          <a:solidFill>
            <a:srgbClr val="112642"/>
          </a:solidFill>
          <a:ln w="7620">
            <a:solidFill>
              <a:srgbClr val="112642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10588752" y="3374136"/>
            <a:ext cx="457200" cy="109728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OBS</a:t>
            </a:r>
            <a:endParaRPr lang="en-US" sz="850" dirty="0"/>
          </a:p>
        </p:txBody>
      </p:sp>
      <p:sp>
        <p:nvSpPr>
          <p:cNvPr id="41" name="Text 39"/>
          <p:cNvSpPr/>
          <p:nvPr/>
        </p:nvSpPr>
        <p:spPr>
          <a:xfrm>
            <a:off x="11174095" y="3200400"/>
            <a:ext cx="455930" cy="434975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380" b="1" dirty="0">
                <a:solidFill>
                  <a:srgbClr val="112642"/>
                </a:solidFill>
                <a:latin typeface="Georgia" panose="02040502050405020303" pitchFamily="34" charset="0"/>
                <a:ea typeface="Georgia" panose="02040502050405020303" pitchFamily="34" charset="-122"/>
                <a:cs typeface="Georgia" panose="02040502050405020303" pitchFamily="34" charset="-120"/>
              </a:rPr>
              <a:t>Grafana</a:t>
            </a:r>
            <a:endParaRPr lang="en-US" sz="1380" dirty="0"/>
          </a:p>
        </p:txBody>
      </p:sp>
      <p:sp>
        <p:nvSpPr>
          <p:cNvPr id="42" name="Text 40"/>
          <p:cNvSpPr/>
          <p:nvPr/>
        </p:nvSpPr>
        <p:spPr>
          <a:xfrm>
            <a:off x="11173968" y="3666363"/>
            <a:ext cx="429768" cy="411480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960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Мониторинг</a:t>
            </a:r>
            <a:endParaRPr lang="en-US" sz="960" dirty="0"/>
          </a:p>
          <a:p>
            <a:pPr marL="0" indent="0" algn="l">
              <a:buNone/>
            </a:pPr>
            <a:r>
              <a:rPr lang="en-US" sz="960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и метрики</a:t>
            </a:r>
            <a:endParaRPr lang="en-US" sz="960" dirty="0"/>
          </a:p>
        </p:txBody>
      </p:sp>
      <p:sp>
        <p:nvSpPr>
          <p:cNvPr id="43" name="Shape 41"/>
          <p:cNvSpPr/>
          <p:nvPr/>
        </p:nvSpPr>
        <p:spPr>
          <a:xfrm>
            <a:off x="594360" y="5349240"/>
            <a:ext cx="7086600" cy="566928"/>
          </a:xfrm>
          <a:prstGeom prst="roundRect">
            <a:avLst>
              <a:gd name="adj" fmla="val 8871"/>
            </a:avLst>
          </a:prstGeom>
          <a:solidFill>
            <a:srgbClr val="FAF7EF"/>
          </a:solidFill>
          <a:ln w="9525">
            <a:solidFill>
              <a:srgbClr val="D9D1C3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804672" y="5522976"/>
            <a:ext cx="1508760" cy="91440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980" b="1" dirty="0">
                <a:solidFill>
                  <a:srgbClr val="11264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Ключевые сущности:</a:t>
            </a:r>
            <a:endParaRPr lang="en-US" sz="980" dirty="0"/>
          </a:p>
        </p:txBody>
      </p:sp>
      <p:sp>
        <p:nvSpPr>
          <p:cNvPr id="45" name="Shape 43"/>
          <p:cNvSpPr/>
          <p:nvPr/>
        </p:nvSpPr>
        <p:spPr>
          <a:xfrm>
            <a:off x="2331720" y="5468112"/>
            <a:ext cx="667512" cy="256032"/>
          </a:xfrm>
          <a:prstGeom prst="roundRect">
            <a:avLst>
              <a:gd name="adj" fmla="val 17857"/>
            </a:avLst>
          </a:prstGeom>
          <a:solidFill>
            <a:srgbClr val="F7F9FC"/>
          </a:solidFill>
          <a:ln w="7620">
            <a:solidFill>
              <a:srgbClr val="C7D3E3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2331720" y="5536692"/>
            <a:ext cx="667512" cy="91440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buNone/>
            </a:pPr>
            <a:r>
              <a:rPr lang="en-US" sz="710" b="1" dirty="0">
                <a:solidFill>
                  <a:srgbClr val="11264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User</a:t>
            </a:r>
            <a:endParaRPr lang="en-US" sz="710" dirty="0"/>
          </a:p>
        </p:txBody>
      </p:sp>
      <p:sp>
        <p:nvSpPr>
          <p:cNvPr id="47" name="Shape 45"/>
          <p:cNvSpPr/>
          <p:nvPr/>
        </p:nvSpPr>
        <p:spPr>
          <a:xfrm>
            <a:off x="3054096" y="5468112"/>
            <a:ext cx="667512" cy="256032"/>
          </a:xfrm>
          <a:prstGeom prst="roundRect">
            <a:avLst>
              <a:gd name="adj" fmla="val 17857"/>
            </a:avLst>
          </a:prstGeom>
          <a:solidFill>
            <a:srgbClr val="F7F9FC"/>
          </a:solidFill>
          <a:ln w="7620">
            <a:solidFill>
              <a:srgbClr val="C7D3E3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3054096" y="5536692"/>
            <a:ext cx="667512" cy="91440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buNone/>
            </a:pPr>
            <a:r>
              <a:rPr lang="en-US" sz="710" b="1" dirty="0">
                <a:solidFill>
                  <a:srgbClr val="11264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Equipment</a:t>
            </a:r>
            <a:endParaRPr lang="en-US" sz="710" dirty="0"/>
          </a:p>
        </p:txBody>
      </p:sp>
      <p:sp>
        <p:nvSpPr>
          <p:cNvPr id="49" name="Shape 47"/>
          <p:cNvSpPr/>
          <p:nvPr/>
        </p:nvSpPr>
        <p:spPr>
          <a:xfrm>
            <a:off x="3776472" y="5468112"/>
            <a:ext cx="667512" cy="256032"/>
          </a:xfrm>
          <a:prstGeom prst="roundRect">
            <a:avLst>
              <a:gd name="adj" fmla="val 17857"/>
            </a:avLst>
          </a:prstGeom>
          <a:solidFill>
            <a:srgbClr val="F7F9FC"/>
          </a:solidFill>
          <a:ln w="7620">
            <a:solidFill>
              <a:srgbClr val="C7D3E3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3776472" y="5536692"/>
            <a:ext cx="667512" cy="91440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buNone/>
            </a:pPr>
            <a:r>
              <a:rPr lang="en-US" sz="710" b="1" dirty="0">
                <a:solidFill>
                  <a:srgbClr val="11264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Employee</a:t>
            </a:r>
            <a:endParaRPr lang="en-US" sz="710" dirty="0"/>
          </a:p>
        </p:txBody>
      </p:sp>
      <p:sp>
        <p:nvSpPr>
          <p:cNvPr id="51" name="Shape 49"/>
          <p:cNvSpPr/>
          <p:nvPr/>
        </p:nvSpPr>
        <p:spPr>
          <a:xfrm>
            <a:off x="4498848" y="5468112"/>
            <a:ext cx="667512" cy="256032"/>
          </a:xfrm>
          <a:prstGeom prst="roundRect">
            <a:avLst>
              <a:gd name="adj" fmla="val 17857"/>
            </a:avLst>
          </a:prstGeom>
          <a:solidFill>
            <a:srgbClr val="F7F9FC"/>
          </a:solidFill>
          <a:ln w="7620">
            <a:solidFill>
              <a:srgbClr val="C7D3E3"/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4498848" y="5536692"/>
            <a:ext cx="667512" cy="91440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buNone/>
            </a:pPr>
            <a:r>
              <a:rPr lang="en-US" sz="710" b="1" dirty="0">
                <a:solidFill>
                  <a:srgbClr val="11264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Issuance</a:t>
            </a:r>
            <a:endParaRPr lang="en-US" sz="710" dirty="0"/>
          </a:p>
        </p:txBody>
      </p:sp>
      <p:sp>
        <p:nvSpPr>
          <p:cNvPr id="53" name="Shape 51"/>
          <p:cNvSpPr/>
          <p:nvPr/>
        </p:nvSpPr>
        <p:spPr>
          <a:xfrm>
            <a:off x="5221224" y="5468112"/>
            <a:ext cx="667512" cy="256032"/>
          </a:xfrm>
          <a:prstGeom prst="roundRect">
            <a:avLst>
              <a:gd name="adj" fmla="val 17857"/>
            </a:avLst>
          </a:prstGeom>
          <a:solidFill>
            <a:srgbClr val="F7F9FC"/>
          </a:solidFill>
          <a:ln w="7620">
            <a:solidFill>
              <a:srgbClr val="C7D3E3"/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5221224" y="5536692"/>
            <a:ext cx="667512" cy="91440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buNone/>
            </a:pPr>
            <a:r>
              <a:rPr lang="en-US" sz="710" b="1" dirty="0">
                <a:solidFill>
                  <a:srgbClr val="11264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Repair</a:t>
            </a:r>
            <a:endParaRPr lang="en-US" sz="710" dirty="0"/>
          </a:p>
        </p:txBody>
      </p:sp>
      <p:sp>
        <p:nvSpPr>
          <p:cNvPr id="55" name="Shape 53"/>
          <p:cNvSpPr/>
          <p:nvPr/>
        </p:nvSpPr>
        <p:spPr>
          <a:xfrm>
            <a:off x="5943600" y="5468112"/>
            <a:ext cx="667512" cy="256032"/>
          </a:xfrm>
          <a:prstGeom prst="roundRect">
            <a:avLst>
              <a:gd name="adj" fmla="val 17857"/>
            </a:avLst>
          </a:prstGeom>
          <a:solidFill>
            <a:srgbClr val="F7F9FC"/>
          </a:solidFill>
          <a:ln w="7620">
            <a:solidFill>
              <a:srgbClr val="C7D3E3"/>
            </a:solidFill>
            <a:prstDash val="solid"/>
          </a:ln>
        </p:spPr>
      </p:sp>
      <p:sp>
        <p:nvSpPr>
          <p:cNvPr id="56" name="Text 54"/>
          <p:cNvSpPr/>
          <p:nvPr/>
        </p:nvSpPr>
        <p:spPr>
          <a:xfrm>
            <a:off x="5943600" y="5536692"/>
            <a:ext cx="667512" cy="91440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buNone/>
            </a:pPr>
            <a:r>
              <a:rPr lang="en-US" sz="710" b="1" dirty="0">
                <a:solidFill>
                  <a:srgbClr val="11264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Inventory</a:t>
            </a:r>
            <a:endParaRPr lang="en-US" sz="710" dirty="0"/>
          </a:p>
        </p:txBody>
      </p:sp>
      <p:sp>
        <p:nvSpPr>
          <p:cNvPr id="57" name="Shape 55"/>
          <p:cNvSpPr/>
          <p:nvPr/>
        </p:nvSpPr>
        <p:spPr>
          <a:xfrm>
            <a:off x="6665976" y="5468112"/>
            <a:ext cx="667512" cy="256032"/>
          </a:xfrm>
          <a:prstGeom prst="roundRect">
            <a:avLst>
              <a:gd name="adj" fmla="val 17857"/>
            </a:avLst>
          </a:prstGeom>
          <a:solidFill>
            <a:srgbClr val="F7F9FC"/>
          </a:solidFill>
          <a:ln w="7620">
            <a:solidFill>
              <a:srgbClr val="C7D3E3"/>
            </a:solidFill>
            <a:prstDash val="solid"/>
          </a:ln>
        </p:spPr>
      </p:sp>
      <p:sp>
        <p:nvSpPr>
          <p:cNvPr id="58" name="Text 56"/>
          <p:cNvSpPr/>
          <p:nvPr/>
        </p:nvSpPr>
        <p:spPr>
          <a:xfrm>
            <a:off x="6665976" y="5536692"/>
            <a:ext cx="667512" cy="91440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buNone/>
            </a:pPr>
            <a:r>
              <a:rPr lang="en-US" sz="710" b="1" dirty="0">
                <a:solidFill>
                  <a:srgbClr val="11264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AuditLog</a:t>
            </a:r>
            <a:endParaRPr lang="en-US" sz="710" dirty="0"/>
          </a:p>
        </p:txBody>
      </p:sp>
      <p:sp>
        <p:nvSpPr>
          <p:cNvPr id="59" name="Shape 57"/>
          <p:cNvSpPr/>
          <p:nvPr/>
        </p:nvSpPr>
        <p:spPr>
          <a:xfrm>
            <a:off x="530352" y="6126480"/>
            <a:ext cx="11109960" cy="411480"/>
          </a:xfrm>
          <a:prstGeom prst="roundRect">
            <a:avLst>
              <a:gd name="adj" fmla="val 12222"/>
            </a:avLst>
          </a:prstGeom>
          <a:solidFill>
            <a:srgbClr val="FAF7EF"/>
          </a:solidFill>
          <a:ln w="9525">
            <a:solidFill>
              <a:srgbClr val="D9D1C3"/>
            </a:solidFill>
            <a:prstDash val="solid"/>
          </a:ln>
        </p:spPr>
      </p:sp>
      <p:sp>
        <p:nvSpPr>
          <p:cNvPr id="60" name="Shape 58"/>
          <p:cNvSpPr/>
          <p:nvPr/>
        </p:nvSpPr>
        <p:spPr>
          <a:xfrm>
            <a:off x="713232" y="6199632"/>
            <a:ext cx="274320" cy="274320"/>
          </a:xfrm>
          <a:prstGeom prst="roundRect">
            <a:avLst>
              <a:gd name="adj" fmla="val 20000"/>
            </a:avLst>
          </a:prstGeom>
          <a:solidFill>
            <a:srgbClr val="112642"/>
          </a:solidFill>
          <a:ln w="7620">
            <a:solidFill>
              <a:srgbClr val="112642"/>
            </a:solidFill>
            <a:prstDash val="solid"/>
          </a:ln>
        </p:spPr>
      </p:sp>
      <p:sp>
        <p:nvSpPr>
          <p:cNvPr id="61" name="Text 59"/>
          <p:cNvSpPr/>
          <p:nvPr/>
        </p:nvSpPr>
        <p:spPr>
          <a:xfrm>
            <a:off x="713232" y="6272784"/>
            <a:ext cx="274320" cy="109728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✓</a:t>
            </a:r>
            <a:endParaRPr lang="en-US" sz="900" dirty="0"/>
          </a:p>
        </p:txBody>
      </p:sp>
      <p:sp>
        <p:nvSpPr>
          <p:cNvPr id="62" name="Text 60"/>
          <p:cNvSpPr/>
          <p:nvPr/>
        </p:nvSpPr>
        <p:spPr>
          <a:xfrm>
            <a:off x="1078992" y="6245352"/>
            <a:ext cx="10012680" cy="155448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060" dirty="0">
                <a:solidFill>
                  <a:srgbClr val="5B5F5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Docker Compose поднимает frontend, backend, PostgreSQL, pgAdmin, Prometheus и Grafana одной командой.</a:t>
            </a:r>
            <a:endParaRPr lang="en-US" sz="106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3E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228600" y="182880"/>
            <a:ext cx="11734495" cy="6492240"/>
          </a:xfrm>
          <a:prstGeom prst="roundRect">
            <a:avLst>
              <a:gd name="adj" fmla="val 704"/>
            </a:avLst>
          </a:prstGeom>
          <a:solidFill>
            <a:srgbClr val="F7F3EC">
              <a:alpha val="0"/>
            </a:srgbClr>
          </a:solidFill>
          <a:ln w="9525">
            <a:solidFill>
              <a:srgbClr val="D9D1C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1533327" y="384048"/>
            <a:ext cx="329184" cy="1828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50" dirty="0">
                <a:solidFill>
                  <a:srgbClr val="11264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11</a:t>
            </a:r>
            <a:endParaRPr lang="en-US" sz="1050" dirty="0"/>
          </a:p>
        </p:txBody>
      </p:sp>
      <p:sp>
        <p:nvSpPr>
          <p:cNvPr id="4" name="Text 2"/>
          <p:cNvSpPr/>
          <p:nvPr/>
        </p:nvSpPr>
        <p:spPr>
          <a:xfrm>
            <a:off x="530352" y="566928"/>
            <a:ext cx="3657600" cy="201168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850" b="1" dirty="0">
                <a:solidFill>
                  <a:srgbClr val="7A726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КАЧЕСТВО И НАДЁЖНОСТЬ</a:t>
            </a:r>
            <a:endParaRPr lang="en-US" sz="850" dirty="0"/>
          </a:p>
        </p:txBody>
      </p:sp>
      <p:sp>
        <p:nvSpPr>
          <p:cNvPr id="5" name="Text 3"/>
          <p:cNvSpPr/>
          <p:nvPr/>
        </p:nvSpPr>
        <p:spPr>
          <a:xfrm>
            <a:off x="530352" y="859536"/>
            <a:ext cx="4754880" cy="1005840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112642"/>
                </a:solidFill>
                <a:latin typeface="Georgia" panose="02040502050405020303" pitchFamily="34" charset="0"/>
                <a:ea typeface="Georgia" panose="02040502050405020303" pitchFamily="34" charset="-122"/>
                <a:cs typeface="Georgia" panose="02040502050405020303" pitchFamily="34" charset="-120"/>
              </a:rPr>
              <a:t>Безопасность, права</a:t>
            </a:r>
            <a:endParaRPr lang="en-US" sz="3000" dirty="0"/>
          </a:p>
          <a:p>
            <a:pPr marL="0" indent="0" algn="l">
              <a:buNone/>
            </a:pPr>
            <a:r>
              <a:rPr lang="en-US" sz="3000" b="1" dirty="0">
                <a:solidFill>
                  <a:srgbClr val="112642"/>
                </a:solidFill>
                <a:latin typeface="Georgia" panose="02040502050405020303" pitchFamily="34" charset="0"/>
                <a:ea typeface="Georgia" panose="02040502050405020303" pitchFamily="34" charset="-122"/>
                <a:cs typeface="Georgia" panose="02040502050405020303" pitchFamily="34" charset="-120"/>
              </a:rPr>
              <a:t>и проверка проекта</a:t>
            </a:r>
            <a:endParaRPr lang="en-US" sz="3000" dirty="0"/>
          </a:p>
        </p:txBody>
      </p:sp>
      <p:sp>
        <p:nvSpPr>
          <p:cNvPr id="6" name="Shape 4"/>
          <p:cNvSpPr/>
          <p:nvPr/>
        </p:nvSpPr>
        <p:spPr>
          <a:xfrm>
            <a:off x="530352" y="1920240"/>
            <a:ext cx="457200" cy="22860"/>
          </a:xfrm>
          <a:prstGeom prst="rect">
            <a:avLst/>
          </a:prstGeom>
          <a:solidFill>
            <a:srgbClr val="112642"/>
          </a:solidFill>
          <a:ln w="12700">
            <a:solidFill>
              <a:srgbClr val="112642">
                <a:alpha val="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594360" y="2148840"/>
            <a:ext cx="2487168" cy="804672"/>
          </a:xfrm>
          <a:prstGeom prst="roundRect">
            <a:avLst>
              <a:gd name="adj" fmla="val 6250"/>
            </a:avLst>
          </a:prstGeom>
          <a:solidFill>
            <a:srgbClr val="FCFAF5"/>
          </a:solidFill>
          <a:ln w="9525">
            <a:solidFill>
              <a:srgbClr val="D9D1C3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731520" y="2350008"/>
            <a:ext cx="420624" cy="384048"/>
          </a:xfrm>
          <a:prstGeom prst="roundRect">
            <a:avLst>
              <a:gd name="adj" fmla="val 14286"/>
            </a:avLst>
          </a:prstGeom>
          <a:solidFill>
            <a:srgbClr val="112642"/>
          </a:solidFill>
          <a:ln w="7620">
            <a:solidFill>
              <a:srgbClr val="112642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731520" y="2459736"/>
            <a:ext cx="420624" cy="109728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buNone/>
            </a:pPr>
            <a:r>
              <a:rPr lang="en-US" sz="77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RBAC</a:t>
            </a:r>
            <a:endParaRPr lang="en-US" sz="770" dirty="0"/>
          </a:p>
        </p:txBody>
      </p:sp>
      <p:sp>
        <p:nvSpPr>
          <p:cNvPr id="10" name="Text 8"/>
          <p:cNvSpPr/>
          <p:nvPr/>
        </p:nvSpPr>
        <p:spPr>
          <a:xfrm>
            <a:off x="1252728" y="2286000"/>
            <a:ext cx="1691640" cy="164592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280" b="1" dirty="0">
                <a:solidFill>
                  <a:srgbClr val="112642"/>
                </a:solidFill>
                <a:latin typeface="Georgia" panose="02040502050405020303" pitchFamily="34" charset="0"/>
                <a:ea typeface="Georgia" panose="02040502050405020303" pitchFamily="34" charset="-122"/>
                <a:cs typeface="Georgia" panose="02040502050405020303" pitchFamily="34" charset="-120"/>
              </a:rPr>
              <a:t>Ролевой доступ</a:t>
            </a:r>
            <a:endParaRPr lang="en-US" sz="1280" dirty="0"/>
          </a:p>
        </p:txBody>
      </p:sp>
      <p:sp>
        <p:nvSpPr>
          <p:cNvPr id="11" name="Text 9"/>
          <p:cNvSpPr/>
          <p:nvPr/>
        </p:nvSpPr>
        <p:spPr>
          <a:xfrm>
            <a:off x="1252728" y="2514600"/>
            <a:ext cx="1627632" cy="329184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860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ADMIN, MANAGER, INVENTORY_MANAGER, EMPLOYEE, AUDITOR и VIEWER видят только свои возможности.</a:t>
            </a:r>
            <a:endParaRPr lang="en-US" sz="860" dirty="0"/>
          </a:p>
        </p:txBody>
      </p:sp>
      <p:sp>
        <p:nvSpPr>
          <p:cNvPr id="12" name="Shape 10"/>
          <p:cNvSpPr/>
          <p:nvPr/>
        </p:nvSpPr>
        <p:spPr>
          <a:xfrm>
            <a:off x="3383280" y="2148840"/>
            <a:ext cx="2487168" cy="804672"/>
          </a:xfrm>
          <a:prstGeom prst="roundRect">
            <a:avLst>
              <a:gd name="adj" fmla="val 6250"/>
            </a:avLst>
          </a:prstGeom>
          <a:solidFill>
            <a:srgbClr val="FCFAF5"/>
          </a:solidFill>
          <a:ln w="9525">
            <a:solidFill>
              <a:srgbClr val="D9D1C3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3520440" y="2350008"/>
            <a:ext cx="420624" cy="384048"/>
          </a:xfrm>
          <a:prstGeom prst="roundRect">
            <a:avLst>
              <a:gd name="adj" fmla="val 14286"/>
            </a:avLst>
          </a:prstGeom>
          <a:solidFill>
            <a:srgbClr val="112642"/>
          </a:solidFill>
          <a:ln w="7620">
            <a:solidFill>
              <a:srgbClr val="112642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520440" y="2459736"/>
            <a:ext cx="420624" cy="109728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buNone/>
            </a:pPr>
            <a:r>
              <a:rPr lang="en-US" sz="77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JWT</a:t>
            </a:r>
            <a:endParaRPr lang="en-US" sz="770" dirty="0"/>
          </a:p>
        </p:txBody>
      </p:sp>
      <p:sp>
        <p:nvSpPr>
          <p:cNvPr id="15" name="Text 13"/>
          <p:cNvSpPr/>
          <p:nvPr/>
        </p:nvSpPr>
        <p:spPr>
          <a:xfrm>
            <a:off x="4041648" y="2286000"/>
            <a:ext cx="1691640" cy="164592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280" b="1" dirty="0">
                <a:solidFill>
                  <a:srgbClr val="112642"/>
                </a:solidFill>
                <a:latin typeface="Georgia" panose="02040502050405020303" pitchFamily="34" charset="0"/>
                <a:ea typeface="Georgia" panose="02040502050405020303" pitchFamily="34" charset="-122"/>
                <a:cs typeface="Georgia" panose="02040502050405020303" pitchFamily="34" charset="-120"/>
              </a:rPr>
              <a:t>Авторизация</a:t>
            </a:r>
            <a:endParaRPr lang="en-US" sz="1280" dirty="0"/>
          </a:p>
        </p:txBody>
      </p:sp>
      <p:sp>
        <p:nvSpPr>
          <p:cNvPr id="16" name="Text 14"/>
          <p:cNvSpPr/>
          <p:nvPr/>
        </p:nvSpPr>
        <p:spPr>
          <a:xfrm>
            <a:off x="4041648" y="2514600"/>
            <a:ext cx="1627632" cy="329184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860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Вход по логину и паролю, защита API и проверка пользователя на backend.</a:t>
            </a:r>
            <a:endParaRPr lang="en-US" sz="860" dirty="0"/>
          </a:p>
        </p:txBody>
      </p:sp>
      <p:sp>
        <p:nvSpPr>
          <p:cNvPr id="17" name="Shape 15"/>
          <p:cNvSpPr/>
          <p:nvPr/>
        </p:nvSpPr>
        <p:spPr>
          <a:xfrm>
            <a:off x="594360" y="3209544"/>
            <a:ext cx="2487168" cy="804672"/>
          </a:xfrm>
          <a:prstGeom prst="roundRect">
            <a:avLst>
              <a:gd name="adj" fmla="val 6250"/>
            </a:avLst>
          </a:prstGeom>
          <a:solidFill>
            <a:srgbClr val="FCFAF5"/>
          </a:solidFill>
          <a:ln w="9525">
            <a:solidFill>
              <a:srgbClr val="D9D1C3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731520" y="3410712"/>
            <a:ext cx="420624" cy="384048"/>
          </a:xfrm>
          <a:prstGeom prst="roundRect">
            <a:avLst>
              <a:gd name="adj" fmla="val 14286"/>
            </a:avLst>
          </a:prstGeom>
          <a:solidFill>
            <a:srgbClr val="112642"/>
          </a:solidFill>
          <a:ln w="7620">
            <a:solidFill>
              <a:srgbClr val="112642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731520" y="3520440"/>
            <a:ext cx="420624" cy="109728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buNone/>
            </a:pPr>
            <a:r>
              <a:rPr lang="en-US" sz="77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VAL</a:t>
            </a:r>
            <a:endParaRPr lang="en-US" sz="770" dirty="0"/>
          </a:p>
        </p:txBody>
      </p:sp>
      <p:sp>
        <p:nvSpPr>
          <p:cNvPr id="20" name="Text 18"/>
          <p:cNvSpPr/>
          <p:nvPr/>
        </p:nvSpPr>
        <p:spPr>
          <a:xfrm>
            <a:off x="1252728" y="3346704"/>
            <a:ext cx="1691640" cy="164592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280" b="1" dirty="0">
                <a:solidFill>
                  <a:srgbClr val="112642"/>
                </a:solidFill>
                <a:latin typeface="Georgia" panose="02040502050405020303" pitchFamily="34" charset="0"/>
                <a:ea typeface="Georgia" panose="02040502050405020303" pitchFamily="34" charset="-122"/>
                <a:cs typeface="Georgia" panose="02040502050405020303" pitchFamily="34" charset="-120"/>
              </a:rPr>
              <a:t>Валидация</a:t>
            </a:r>
            <a:endParaRPr lang="en-US" sz="1280" dirty="0"/>
          </a:p>
        </p:txBody>
      </p:sp>
      <p:sp>
        <p:nvSpPr>
          <p:cNvPr id="21" name="Text 19"/>
          <p:cNvSpPr/>
          <p:nvPr/>
        </p:nvSpPr>
        <p:spPr>
          <a:xfrm>
            <a:off x="1252728" y="3575304"/>
            <a:ext cx="1627632" cy="329184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860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Критичные действия проверяются: статусы, роли, выдачи, ремонты и отчёты.</a:t>
            </a:r>
            <a:endParaRPr lang="en-US" sz="860" dirty="0"/>
          </a:p>
        </p:txBody>
      </p:sp>
      <p:sp>
        <p:nvSpPr>
          <p:cNvPr id="22" name="Shape 20"/>
          <p:cNvSpPr/>
          <p:nvPr/>
        </p:nvSpPr>
        <p:spPr>
          <a:xfrm>
            <a:off x="3383280" y="3209544"/>
            <a:ext cx="2487168" cy="804672"/>
          </a:xfrm>
          <a:prstGeom prst="roundRect">
            <a:avLst>
              <a:gd name="adj" fmla="val 6250"/>
            </a:avLst>
          </a:prstGeom>
          <a:solidFill>
            <a:srgbClr val="FCFAF5"/>
          </a:solidFill>
          <a:ln w="9525">
            <a:solidFill>
              <a:srgbClr val="D9D1C3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3520440" y="3410712"/>
            <a:ext cx="420624" cy="384048"/>
          </a:xfrm>
          <a:prstGeom prst="roundRect">
            <a:avLst>
              <a:gd name="adj" fmla="val 14286"/>
            </a:avLst>
          </a:prstGeom>
          <a:solidFill>
            <a:srgbClr val="112642"/>
          </a:solidFill>
          <a:ln w="7620">
            <a:solidFill>
              <a:srgbClr val="112642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3520440" y="3520440"/>
            <a:ext cx="420624" cy="109728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buNone/>
            </a:pPr>
            <a:r>
              <a:rPr lang="en-US" sz="77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TEST</a:t>
            </a:r>
            <a:endParaRPr lang="en-US" sz="770" dirty="0"/>
          </a:p>
        </p:txBody>
      </p:sp>
      <p:sp>
        <p:nvSpPr>
          <p:cNvPr id="25" name="Text 23"/>
          <p:cNvSpPr/>
          <p:nvPr/>
        </p:nvSpPr>
        <p:spPr>
          <a:xfrm>
            <a:off x="4041648" y="3346704"/>
            <a:ext cx="1691640" cy="164592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280" b="1" dirty="0">
                <a:solidFill>
                  <a:srgbClr val="112642"/>
                </a:solidFill>
                <a:latin typeface="Georgia" panose="02040502050405020303" pitchFamily="34" charset="0"/>
                <a:ea typeface="Georgia" panose="02040502050405020303" pitchFamily="34" charset="-122"/>
                <a:cs typeface="Georgia" panose="02040502050405020303" pitchFamily="34" charset="-120"/>
              </a:rPr>
              <a:t>Тесты и build</a:t>
            </a:r>
            <a:endParaRPr lang="en-US" sz="1280" dirty="0"/>
          </a:p>
        </p:txBody>
      </p:sp>
      <p:sp>
        <p:nvSpPr>
          <p:cNvPr id="26" name="Text 24"/>
          <p:cNvSpPr/>
          <p:nvPr/>
        </p:nvSpPr>
        <p:spPr>
          <a:xfrm>
            <a:off x="4041648" y="3575304"/>
            <a:ext cx="1627632" cy="329184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860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Сборки и тесты подтверждают, что проект не ломается после доработок.</a:t>
            </a:r>
            <a:endParaRPr lang="en-US" sz="860" dirty="0"/>
          </a:p>
        </p:txBody>
      </p:sp>
      <p:sp>
        <p:nvSpPr>
          <p:cNvPr id="27" name="Shape 25"/>
          <p:cNvSpPr/>
          <p:nvPr/>
        </p:nvSpPr>
        <p:spPr>
          <a:xfrm>
            <a:off x="594360" y="4270248"/>
            <a:ext cx="2487168" cy="804672"/>
          </a:xfrm>
          <a:prstGeom prst="roundRect">
            <a:avLst>
              <a:gd name="adj" fmla="val 6250"/>
            </a:avLst>
          </a:prstGeom>
          <a:solidFill>
            <a:srgbClr val="FCFAF5"/>
          </a:solidFill>
          <a:ln w="9525">
            <a:solidFill>
              <a:srgbClr val="D9D1C3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731520" y="4471416"/>
            <a:ext cx="420624" cy="384048"/>
          </a:xfrm>
          <a:prstGeom prst="roundRect">
            <a:avLst>
              <a:gd name="adj" fmla="val 14286"/>
            </a:avLst>
          </a:prstGeom>
          <a:solidFill>
            <a:srgbClr val="112642"/>
          </a:solidFill>
          <a:ln w="7620">
            <a:solidFill>
              <a:srgbClr val="112642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731520" y="4581144"/>
            <a:ext cx="420624" cy="109728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buNone/>
            </a:pPr>
            <a:r>
              <a:rPr lang="en-US" sz="77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LOG</a:t>
            </a:r>
            <a:endParaRPr lang="en-US" sz="770" dirty="0"/>
          </a:p>
        </p:txBody>
      </p:sp>
      <p:sp>
        <p:nvSpPr>
          <p:cNvPr id="30" name="Text 28"/>
          <p:cNvSpPr/>
          <p:nvPr/>
        </p:nvSpPr>
        <p:spPr>
          <a:xfrm>
            <a:off x="1252728" y="4407408"/>
            <a:ext cx="1691640" cy="164592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280" b="1" dirty="0">
                <a:solidFill>
                  <a:srgbClr val="112642"/>
                </a:solidFill>
                <a:latin typeface="Georgia" panose="02040502050405020303" pitchFamily="34" charset="0"/>
                <a:ea typeface="Georgia" panose="02040502050405020303" pitchFamily="34" charset="-122"/>
                <a:cs typeface="Georgia" panose="02040502050405020303" pitchFamily="34" charset="-120"/>
              </a:rPr>
              <a:t>Audit log</a:t>
            </a:r>
            <a:endParaRPr lang="en-US" sz="1280" dirty="0"/>
          </a:p>
        </p:txBody>
      </p:sp>
      <p:sp>
        <p:nvSpPr>
          <p:cNvPr id="31" name="Text 29"/>
          <p:cNvSpPr/>
          <p:nvPr/>
        </p:nvSpPr>
        <p:spPr>
          <a:xfrm>
            <a:off x="1252728" y="4636008"/>
            <a:ext cx="1627632" cy="329184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860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Важные действия сохраняются в журнале: кто, когда и что сделал.</a:t>
            </a:r>
            <a:endParaRPr lang="en-US" sz="860" dirty="0"/>
          </a:p>
        </p:txBody>
      </p:sp>
      <p:sp>
        <p:nvSpPr>
          <p:cNvPr id="32" name="Shape 30"/>
          <p:cNvSpPr/>
          <p:nvPr/>
        </p:nvSpPr>
        <p:spPr>
          <a:xfrm>
            <a:off x="3383280" y="4270248"/>
            <a:ext cx="2487168" cy="804672"/>
          </a:xfrm>
          <a:prstGeom prst="roundRect">
            <a:avLst>
              <a:gd name="adj" fmla="val 6250"/>
            </a:avLst>
          </a:prstGeom>
          <a:solidFill>
            <a:srgbClr val="FCFAF5"/>
          </a:solidFill>
          <a:ln w="9525">
            <a:solidFill>
              <a:srgbClr val="D9D1C3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3520440" y="4471416"/>
            <a:ext cx="420624" cy="384048"/>
          </a:xfrm>
          <a:prstGeom prst="roundRect">
            <a:avLst>
              <a:gd name="adj" fmla="val 14286"/>
            </a:avLst>
          </a:prstGeom>
          <a:solidFill>
            <a:srgbClr val="112642"/>
          </a:solidFill>
          <a:ln w="7620">
            <a:solidFill>
              <a:srgbClr val="112642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3520440" y="4581144"/>
            <a:ext cx="420624" cy="109728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buNone/>
            </a:pPr>
            <a:r>
              <a:rPr lang="en-US" sz="77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OBS</a:t>
            </a:r>
            <a:endParaRPr lang="en-US" sz="770" dirty="0"/>
          </a:p>
        </p:txBody>
      </p:sp>
      <p:sp>
        <p:nvSpPr>
          <p:cNvPr id="35" name="Text 33"/>
          <p:cNvSpPr/>
          <p:nvPr/>
        </p:nvSpPr>
        <p:spPr>
          <a:xfrm>
            <a:off x="4041648" y="4407408"/>
            <a:ext cx="1691640" cy="164592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280" b="1" dirty="0">
                <a:solidFill>
                  <a:srgbClr val="112642"/>
                </a:solidFill>
                <a:latin typeface="Georgia" panose="02040502050405020303" pitchFamily="34" charset="0"/>
                <a:ea typeface="Georgia" panose="02040502050405020303" pitchFamily="34" charset="-122"/>
                <a:cs typeface="Georgia" panose="02040502050405020303" pitchFamily="34" charset="-120"/>
              </a:rPr>
              <a:t>Мониторинг</a:t>
            </a:r>
            <a:endParaRPr lang="en-US" sz="1280" dirty="0"/>
          </a:p>
        </p:txBody>
      </p:sp>
      <p:sp>
        <p:nvSpPr>
          <p:cNvPr id="36" name="Text 34"/>
          <p:cNvSpPr/>
          <p:nvPr/>
        </p:nvSpPr>
        <p:spPr>
          <a:xfrm>
            <a:off x="4041648" y="4636008"/>
            <a:ext cx="1627632" cy="329184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860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Prometheus и Grafana показывают состояние системы и бизнес-метрики.</a:t>
            </a:r>
            <a:endParaRPr lang="en-US" sz="860" dirty="0"/>
          </a:p>
        </p:txBody>
      </p:sp>
      <p:sp>
        <p:nvSpPr>
          <p:cNvPr id="37" name="Shape 35"/>
          <p:cNvSpPr/>
          <p:nvPr/>
        </p:nvSpPr>
        <p:spPr>
          <a:xfrm>
            <a:off x="6446520" y="868680"/>
            <a:ext cx="2514600" cy="1783080"/>
          </a:xfrm>
          <a:prstGeom prst="roundRect">
            <a:avLst>
              <a:gd name="adj" fmla="val 2821"/>
            </a:avLst>
          </a:prstGeom>
          <a:solidFill>
            <a:srgbClr val="FCFAF5"/>
          </a:solidFill>
          <a:ln w="9525">
            <a:solidFill>
              <a:srgbClr val="D9D1C3"/>
            </a:solidFill>
            <a:prstDash val="solid"/>
          </a:ln>
          <a:effectLst>
            <a:outerShdw blurRad="25400" dist="50800" dir="2700000" algn="bl" rotWithShape="0">
              <a:srgbClr val="C8BFAF">
                <a:alpha val="13000"/>
              </a:srgbClr>
            </a:outerShdw>
          </a:effectLst>
        </p:spPr>
      </p:sp>
      <p:pic>
        <p:nvPicPr>
          <p:cNvPr id="38" name="Image 0" descr="/mnt/data/11-profile(1)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525341" y="941832"/>
            <a:ext cx="2356957" cy="1636776"/>
          </a:xfrm>
          <a:prstGeom prst="rect">
            <a:avLst/>
          </a:prstGeom>
        </p:spPr>
      </p:pic>
      <p:sp>
        <p:nvSpPr>
          <p:cNvPr id="39" name="Shape 36"/>
          <p:cNvSpPr/>
          <p:nvPr/>
        </p:nvSpPr>
        <p:spPr>
          <a:xfrm>
            <a:off x="9006840" y="868680"/>
            <a:ext cx="2240280" cy="1783080"/>
          </a:xfrm>
          <a:prstGeom prst="roundRect">
            <a:avLst>
              <a:gd name="adj" fmla="val 2821"/>
            </a:avLst>
          </a:prstGeom>
          <a:solidFill>
            <a:srgbClr val="FCFAF5"/>
          </a:solidFill>
          <a:ln w="9525">
            <a:solidFill>
              <a:srgbClr val="D9D1C3"/>
            </a:solidFill>
            <a:prstDash val="solid"/>
          </a:ln>
          <a:effectLst>
            <a:outerShdw blurRad="25400" dist="50800" dir="2700000" algn="bl" rotWithShape="0">
              <a:srgbClr val="C8BFAF">
                <a:alpha val="13000"/>
              </a:srgbClr>
            </a:outerShdw>
          </a:effectLst>
        </p:spPr>
      </p:sp>
      <p:pic>
        <p:nvPicPr>
          <p:cNvPr id="40" name="Image 1" descr="/mnt/data/12-about-project(1)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079992" y="1033145"/>
            <a:ext cx="2093976" cy="1454150"/>
          </a:xfrm>
          <a:prstGeom prst="rect">
            <a:avLst/>
          </a:prstGeom>
        </p:spPr>
      </p:pic>
      <p:sp>
        <p:nvSpPr>
          <p:cNvPr id="41" name="Shape 37"/>
          <p:cNvSpPr/>
          <p:nvPr/>
        </p:nvSpPr>
        <p:spPr>
          <a:xfrm>
            <a:off x="6446520" y="3063240"/>
            <a:ext cx="4800600" cy="2423160"/>
          </a:xfrm>
          <a:prstGeom prst="roundRect">
            <a:avLst>
              <a:gd name="adj" fmla="val 2075"/>
            </a:avLst>
          </a:prstGeom>
          <a:solidFill>
            <a:srgbClr val="FCFAF5"/>
          </a:solidFill>
          <a:ln w="9525">
            <a:solidFill>
              <a:srgbClr val="D9D1C3"/>
            </a:solidFill>
            <a:prstDash val="solid"/>
          </a:ln>
          <a:effectLst>
            <a:outerShdw blurRad="25400" dist="50800" dir="2700000" algn="bl" rotWithShape="0">
              <a:srgbClr val="C8BFAF">
                <a:alpha val="13000"/>
              </a:srgbClr>
            </a:outerShdw>
          </a:effectLst>
        </p:spPr>
      </p:sp>
      <p:pic>
        <p:nvPicPr>
          <p:cNvPr id="42" name="Image 2" descr="/mnt/data/09-audit-log(1)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23273" y="3136392"/>
            <a:ext cx="3047094" cy="2276856"/>
          </a:xfrm>
          <a:prstGeom prst="rect">
            <a:avLst/>
          </a:prstGeom>
        </p:spPr>
      </p:pic>
      <p:sp>
        <p:nvSpPr>
          <p:cNvPr id="43" name="Shape 38"/>
          <p:cNvSpPr/>
          <p:nvPr/>
        </p:nvSpPr>
        <p:spPr>
          <a:xfrm>
            <a:off x="530352" y="6126480"/>
            <a:ext cx="11109960" cy="411480"/>
          </a:xfrm>
          <a:prstGeom prst="roundRect">
            <a:avLst>
              <a:gd name="adj" fmla="val 12222"/>
            </a:avLst>
          </a:prstGeom>
          <a:solidFill>
            <a:srgbClr val="FAF7EF"/>
          </a:solidFill>
          <a:ln w="9525">
            <a:solidFill>
              <a:srgbClr val="D9D1C3"/>
            </a:solidFill>
            <a:prstDash val="solid"/>
          </a:ln>
        </p:spPr>
      </p:sp>
      <p:sp>
        <p:nvSpPr>
          <p:cNvPr id="44" name="Shape 39"/>
          <p:cNvSpPr/>
          <p:nvPr/>
        </p:nvSpPr>
        <p:spPr>
          <a:xfrm>
            <a:off x="713232" y="6199632"/>
            <a:ext cx="274320" cy="274320"/>
          </a:xfrm>
          <a:prstGeom prst="roundRect">
            <a:avLst>
              <a:gd name="adj" fmla="val 20000"/>
            </a:avLst>
          </a:prstGeom>
          <a:solidFill>
            <a:srgbClr val="112642"/>
          </a:solidFill>
          <a:ln w="7620">
            <a:solidFill>
              <a:srgbClr val="112642"/>
            </a:solidFill>
            <a:prstDash val="solid"/>
          </a:ln>
        </p:spPr>
      </p:sp>
      <p:sp>
        <p:nvSpPr>
          <p:cNvPr id="45" name="Text 40"/>
          <p:cNvSpPr/>
          <p:nvPr/>
        </p:nvSpPr>
        <p:spPr>
          <a:xfrm>
            <a:off x="713232" y="6272784"/>
            <a:ext cx="274320" cy="109728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✓</a:t>
            </a:r>
            <a:endParaRPr lang="en-US" sz="900" dirty="0"/>
          </a:p>
        </p:txBody>
      </p:sp>
      <p:sp>
        <p:nvSpPr>
          <p:cNvPr id="46" name="Text 41"/>
          <p:cNvSpPr/>
          <p:nvPr/>
        </p:nvSpPr>
        <p:spPr>
          <a:xfrm>
            <a:off x="1078992" y="6245352"/>
            <a:ext cx="10012680" cy="155448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060" dirty="0">
                <a:solidFill>
                  <a:srgbClr val="5B5F5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Для защиты важно: проект показывает не только интерфейс, но и инженерную базу — роли, логирование, отчёты, тесты, Docker и мониторинг.</a:t>
            </a:r>
            <a:endParaRPr lang="en-US" sz="106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3E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228600" y="182880"/>
            <a:ext cx="11734495" cy="6492240"/>
          </a:xfrm>
          <a:prstGeom prst="roundRect">
            <a:avLst>
              <a:gd name="adj" fmla="val 704"/>
            </a:avLst>
          </a:prstGeom>
          <a:solidFill>
            <a:srgbClr val="F7F3EC">
              <a:alpha val="0"/>
            </a:srgbClr>
          </a:solidFill>
          <a:ln w="9525">
            <a:solidFill>
              <a:srgbClr val="D9D1C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1533327" y="384048"/>
            <a:ext cx="329184" cy="1828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50" dirty="0">
                <a:solidFill>
                  <a:srgbClr val="11264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12</a:t>
            </a:r>
            <a:endParaRPr lang="en-US" sz="1050" dirty="0"/>
          </a:p>
        </p:txBody>
      </p:sp>
      <p:sp>
        <p:nvSpPr>
          <p:cNvPr id="4" name="Text 2"/>
          <p:cNvSpPr/>
          <p:nvPr/>
        </p:nvSpPr>
        <p:spPr>
          <a:xfrm>
            <a:off x="530352" y="566928"/>
            <a:ext cx="3657600" cy="201168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850" b="1" dirty="0">
                <a:solidFill>
                  <a:srgbClr val="7A726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ИТОГ И ЦЕННОСТЬ</a:t>
            </a:r>
            <a:endParaRPr lang="en-US" sz="850" dirty="0"/>
          </a:p>
        </p:txBody>
      </p:sp>
      <p:sp>
        <p:nvSpPr>
          <p:cNvPr id="5" name="Text 3"/>
          <p:cNvSpPr/>
          <p:nvPr/>
        </p:nvSpPr>
        <p:spPr>
          <a:xfrm>
            <a:off x="530352" y="905510"/>
            <a:ext cx="4572000" cy="960120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112642"/>
                </a:solidFill>
                <a:latin typeface="Georgia" panose="02040502050405020303" pitchFamily="34" charset="0"/>
                <a:ea typeface="Georgia" panose="02040502050405020303" pitchFamily="34" charset="-122"/>
                <a:cs typeface="Georgia" panose="02040502050405020303" pitchFamily="34" charset="-120"/>
              </a:rPr>
              <a:t>Полный контроль оборудования</a:t>
            </a:r>
            <a:endParaRPr lang="en-US" sz="3000" dirty="0"/>
          </a:p>
          <a:p>
            <a:pPr marL="0" indent="0" algn="l">
              <a:buNone/>
            </a:pPr>
            <a:r>
              <a:rPr lang="en-US" sz="3000" b="1" dirty="0">
                <a:solidFill>
                  <a:srgbClr val="112642"/>
                </a:solidFill>
                <a:latin typeface="Georgia" panose="02040502050405020303" pitchFamily="34" charset="0"/>
                <a:ea typeface="Georgia" panose="02040502050405020303" pitchFamily="34" charset="-122"/>
                <a:cs typeface="Georgia" panose="02040502050405020303" pitchFamily="34" charset="-120"/>
              </a:rPr>
              <a:t>в одной системе</a:t>
            </a:r>
            <a:endParaRPr lang="en-US" sz="3000" dirty="0"/>
          </a:p>
        </p:txBody>
      </p:sp>
      <p:sp>
        <p:nvSpPr>
          <p:cNvPr id="7" name="Text 5"/>
          <p:cNvSpPr/>
          <p:nvPr/>
        </p:nvSpPr>
        <p:spPr>
          <a:xfrm>
            <a:off x="548640" y="2048256"/>
            <a:ext cx="4389120" cy="530352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400" dirty="0">
                <a:solidFill>
                  <a:srgbClr val="111827"/>
                </a:solidFill>
                <a:latin typeface="Georgia" panose="02040502050405020303" pitchFamily="34" charset="0"/>
                <a:ea typeface="Georgia" panose="02040502050405020303" pitchFamily="34" charset="-122"/>
                <a:cs typeface="Georgia" panose="02040502050405020303" pitchFamily="34" charset="-120"/>
              </a:rPr>
              <a:t>AssetControl заменяет ручной учёт в Excel и бумажных журналах единым цифровым инструментом для предприятия.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658368" y="2971800"/>
            <a:ext cx="274320" cy="274320"/>
          </a:xfrm>
          <a:prstGeom prst="ellipse">
            <a:avLst/>
          </a:prstGeom>
          <a:solidFill>
            <a:srgbClr val="112642"/>
          </a:solidFill>
          <a:ln w="12700">
            <a:solidFill>
              <a:srgbClr val="112642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58368" y="3040380"/>
            <a:ext cx="274320" cy="91440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01</a:t>
            </a:r>
            <a:endParaRPr lang="en-US" sz="750" dirty="0"/>
          </a:p>
        </p:txBody>
      </p:sp>
      <p:sp>
        <p:nvSpPr>
          <p:cNvPr id="10" name="Text 8"/>
          <p:cNvSpPr/>
          <p:nvPr/>
        </p:nvSpPr>
        <p:spPr>
          <a:xfrm>
            <a:off x="1097280" y="2944368"/>
            <a:ext cx="1828800" cy="201168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460" b="1" dirty="0">
                <a:solidFill>
                  <a:srgbClr val="112642"/>
                </a:solidFill>
                <a:latin typeface="Georgia" panose="02040502050405020303" pitchFamily="34" charset="0"/>
                <a:ea typeface="Georgia" panose="02040502050405020303" pitchFamily="34" charset="-122"/>
                <a:cs typeface="Georgia" panose="02040502050405020303" pitchFamily="34" charset="-120"/>
              </a:rPr>
              <a:t>Прозрачность</a:t>
            </a:r>
            <a:endParaRPr lang="en-US" sz="1460" dirty="0"/>
          </a:p>
        </p:txBody>
      </p:sp>
      <p:sp>
        <p:nvSpPr>
          <p:cNvPr id="11" name="Text 9"/>
          <p:cNvSpPr/>
          <p:nvPr/>
        </p:nvSpPr>
        <p:spPr>
          <a:xfrm>
            <a:off x="1097280" y="3200400"/>
            <a:ext cx="3566160" cy="320040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040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Видно, где находится каждый актив и кто за него отвечает.</a:t>
            </a:r>
            <a:endParaRPr lang="en-US" sz="1040" dirty="0"/>
          </a:p>
        </p:txBody>
      </p:sp>
      <p:sp>
        <p:nvSpPr>
          <p:cNvPr id="12" name="Shape 10"/>
          <p:cNvSpPr/>
          <p:nvPr/>
        </p:nvSpPr>
        <p:spPr>
          <a:xfrm>
            <a:off x="658368" y="3995928"/>
            <a:ext cx="274320" cy="274320"/>
          </a:xfrm>
          <a:prstGeom prst="ellipse">
            <a:avLst/>
          </a:prstGeom>
          <a:solidFill>
            <a:srgbClr val="112642"/>
          </a:solidFill>
          <a:ln w="12700">
            <a:solidFill>
              <a:srgbClr val="112642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58368" y="4064508"/>
            <a:ext cx="274320" cy="91440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02</a:t>
            </a:r>
            <a:endParaRPr lang="en-US" sz="750" dirty="0"/>
          </a:p>
        </p:txBody>
      </p:sp>
      <p:sp>
        <p:nvSpPr>
          <p:cNvPr id="14" name="Text 12"/>
          <p:cNvSpPr/>
          <p:nvPr/>
        </p:nvSpPr>
        <p:spPr>
          <a:xfrm>
            <a:off x="1097280" y="3968496"/>
            <a:ext cx="1828800" cy="201168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460" b="1" dirty="0">
                <a:solidFill>
                  <a:srgbClr val="112642"/>
                </a:solidFill>
                <a:latin typeface="Georgia" panose="02040502050405020303" pitchFamily="34" charset="0"/>
                <a:ea typeface="Georgia" panose="02040502050405020303" pitchFamily="34" charset="-122"/>
                <a:cs typeface="Georgia" panose="02040502050405020303" pitchFamily="34" charset="-120"/>
              </a:rPr>
              <a:t>Контроль</a:t>
            </a:r>
            <a:endParaRPr lang="en-US" sz="1460" dirty="0"/>
          </a:p>
        </p:txBody>
      </p:sp>
      <p:sp>
        <p:nvSpPr>
          <p:cNvPr id="15" name="Text 13"/>
          <p:cNvSpPr/>
          <p:nvPr/>
        </p:nvSpPr>
        <p:spPr>
          <a:xfrm>
            <a:off x="1097280" y="4224528"/>
            <a:ext cx="3566160" cy="320040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040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Выдачи, ремонты, инвентаризации и просрочки становятся управляемыми.</a:t>
            </a:r>
            <a:endParaRPr lang="en-US" sz="1040" dirty="0"/>
          </a:p>
        </p:txBody>
      </p:sp>
      <p:sp>
        <p:nvSpPr>
          <p:cNvPr id="16" name="Shape 14"/>
          <p:cNvSpPr/>
          <p:nvPr/>
        </p:nvSpPr>
        <p:spPr>
          <a:xfrm>
            <a:off x="658368" y="5020056"/>
            <a:ext cx="274320" cy="274320"/>
          </a:xfrm>
          <a:prstGeom prst="ellipse">
            <a:avLst/>
          </a:prstGeom>
          <a:solidFill>
            <a:srgbClr val="112642"/>
          </a:solidFill>
          <a:ln w="12700">
            <a:solidFill>
              <a:srgbClr val="112642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58368" y="5088636"/>
            <a:ext cx="274320" cy="91440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03</a:t>
            </a:r>
            <a:endParaRPr lang="en-US" sz="750" dirty="0"/>
          </a:p>
        </p:txBody>
      </p:sp>
      <p:sp>
        <p:nvSpPr>
          <p:cNvPr id="18" name="Text 16"/>
          <p:cNvSpPr/>
          <p:nvPr/>
        </p:nvSpPr>
        <p:spPr>
          <a:xfrm>
            <a:off x="1097280" y="4992624"/>
            <a:ext cx="1828800" cy="201168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460" b="1" dirty="0">
                <a:solidFill>
                  <a:srgbClr val="112642"/>
                </a:solidFill>
                <a:latin typeface="Georgia" panose="02040502050405020303" pitchFamily="34" charset="0"/>
                <a:ea typeface="Georgia" panose="02040502050405020303" pitchFamily="34" charset="-122"/>
                <a:cs typeface="Georgia" panose="02040502050405020303" pitchFamily="34" charset="-120"/>
              </a:rPr>
              <a:t>Развитие</a:t>
            </a:r>
            <a:endParaRPr lang="en-US" sz="1460" dirty="0"/>
          </a:p>
        </p:txBody>
      </p:sp>
      <p:sp>
        <p:nvSpPr>
          <p:cNvPr id="19" name="Text 17"/>
          <p:cNvSpPr/>
          <p:nvPr/>
        </p:nvSpPr>
        <p:spPr>
          <a:xfrm>
            <a:off x="1097280" y="5248656"/>
            <a:ext cx="3566160" cy="320040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040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Дальше можно добавить QR-метки, файлы, акты выдачи и e2e-тесты.</a:t>
            </a:r>
            <a:endParaRPr lang="en-US" sz="1040" dirty="0"/>
          </a:p>
        </p:txBody>
      </p:sp>
      <p:sp>
        <p:nvSpPr>
          <p:cNvPr id="20" name="Shape 18"/>
          <p:cNvSpPr/>
          <p:nvPr/>
        </p:nvSpPr>
        <p:spPr>
          <a:xfrm>
            <a:off x="5806440" y="822960"/>
            <a:ext cx="5074920" cy="1965960"/>
          </a:xfrm>
          <a:prstGeom prst="roundRect">
            <a:avLst>
              <a:gd name="adj" fmla="val 2558"/>
            </a:avLst>
          </a:prstGeom>
          <a:solidFill>
            <a:srgbClr val="FCFAF5"/>
          </a:solidFill>
          <a:ln w="9525">
            <a:solidFill>
              <a:srgbClr val="D9D1C3"/>
            </a:solidFill>
            <a:prstDash val="solid"/>
          </a:ln>
          <a:effectLst>
            <a:outerShdw blurRad="25400" dist="50800" dir="2700000" algn="bl" rotWithShape="0">
              <a:srgbClr val="C8BFAF">
                <a:alpha val="13000"/>
              </a:srgbClr>
            </a:outerShdw>
          </a:effectLst>
        </p:spPr>
      </p:sp>
      <p:pic>
        <p:nvPicPr>
          <p:cNvPr id="21" name="Image 0" descr="/mnt/data/08-reports(1)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033748" y="896112"/>
            <a:ext cx="2620305" cy="1819656"/>
          </a:xfrm>
          <a:prstGeom prst="rect">
            <a:avLst/>
          </a:prstGeom>
        </p:spPr>
      </p:pic>
      <p:sp>
        <p:nvSpPr>
          <p:cNvPr id="22" name="Shape 19"/>
          <p:cNvSpPr/>
          <p:nvPr/>
        </p:nvSpPr>
        <p:spPr>
          <a:xfrm>
            <a:off x="5440680" y="3063240"/>
            <a:ext cx="2788920" cy="1645920"/>
          </a:xfrm>
          <a:prstGeom prst="roundRect">
            <a:avLst>
              <a:gd name="adj" fmla="val 3056"/>
            </a:avLst>
          </a:prstGeom>
          <a:solidFill>
            <a:srgbClr val="FCFAF5"/>
          </a:solidFill>
          <a:ln w="9525">
            <a:solidFill>
              <a:srgbClr val="D9D1C3"/>
            </a:solidFill>
            <a:prstDash val="solid"/>
          </a:ln>
          <a:effectLst>
            <a:outerShdw blurRad="25400" dist="50800" dir="2700000" algn="bl" rotWithShape="0">
              <a:srgbClr val="C8BFAF">
                <a:alpha val="13000"/>
              </a:srgbClr>
            </a:outerShdw>
          </a:effectLst>
        </p:spPr>
      </p:sp>
      <p:pic>
        <p:nvPicPr>
          <p:cNvPr id="23" name="Image 1" descr="/mnt/data/09-audit-log(1)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31679" y="3136392"/>
            <a:ext cx="2006921" cy="1499616"/>
          </a:xfrm>
          <a:prstGeom prst="rect">
            <a:avLst/>
          </a:prstGeom>
        </p:spPr>
      </p:pic>
      <p:sp>
        <p:nvSpPr>
          <p:cNvPr id="24" name="Shape 20"/>
          <p:cNvSpPr/>
          <p:nvPr/>
        </p:nvSpPr>
        <p:spPr>
          <a:xfrm>
            <a:off x="8412480" y="3063240"/>
            <a:ext cx="2788920" cy="1645920"/>
          </a:xfrm>
          <a:prstGeom prst="roundRect">
            <a:avLst>
              <a:gd name="adj" fmla="val 3056"/>
            </a:avLst>
          </a:prstGeom>
          <a:solidFill>
            <a:srgbClr val="FCFAF5"/>
          </a:solidFill>
          <a:ln w="9525">
            <a:solidFill>
              <a:srgbClr val="D9D1C3"/>
            </a:solidFill>
            <a:prstDash val="solid"/>
          </a:ln>
          <a:effectLst>
            <a:outerShdw blurRad="25400" dist="50800" dir="2700000" algn="bl" rotWithShape="0">
              <a:srgbClr val="C8BFAF">
                <a:alpha val="13000"/>
              </a:srgbClr>
            </a:outerShdw>
          </a:effectLst>
        </p:spPr>
      </p:sp>
      <p:pic>
        <p:nvPicPr>
          <p:cNvPr id="25" name="Image 2" descr="/mnt/data/12-about-project(1)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727216" y="3136392"/>
            <a:ext cx="2159447" cy="1499616"/>
          </a:xfrm>
          <a:prstGeom prst="rect">
            <a:avLst/>
          </a:prstGeom>
        </p:spPr>
      </p:pic>
      <p:sp>
        <p:nvSpPr>
          <p:cNvPr id="26" name="Shape 21"/>
          <p:cNvSpPr/>
          <p:nvPr/>
        </p:nvSpPr>
        <p:spPr>
          <a:xfrm>
            <a:off x="5212080" y="5102352"/>
            <a:ext cx="5806440" cy="713232"/>
          </a:xfrm>
          <a:prstGeom prst="roundRect">
            <a:avLst>
              <a:gd name="adj" fmla="val 7051"/>
            </a:avLst>
          </a:prstGeom>
          <a:solidFill>
            <a:srgbClr val="FAF7EF"/>
          </a:solidFill>
          <a:ln w="9525">
            <a:solidFill>
              <a:srgbClr val="D9D1C3"/>
            </a:solidFill>
            <a:prstDash val="solid"/>
          </a:ln>
          <a:effectLst>
            <a:outerShdw blurRad="25400" dist="50800" dir="2700000" algn="bl" rotWithShape="0">
              <a:srgbClr val="C8BFAF">
                <a:alpha val="13000"/>
              </a:srgbClr>
            </a:outerShdw>
          </a:effectLst>
        </p:spPr>
      </p:sp>
      <p:sp>
        <p:nvSpPr>
          <p:cNvPr id="27" name="Shape 22"/>
          <p:cNvSpPr/>
          <p:nvPr/>
        </p:nvSpPr>
        <p:spPr>
          <a:xfrm>
            <a:off x="5440680" y="5285232"/>
            <a:ext cx="402336" cy="365760"/>
          </a:xfrm>
          <a:prstGeom prst="roundRect">
            <a:avLst>
              <a:gd name="adj" fmla="val 15000"/>
            </a:avLst>
          </a:prstGeom>
          <a:solidFill>
            <a:srgbClr val="112642"/>
          </a:solidFill>
          <a:ln w="7620">
            <a:solidFill>
              <a:srgbClr val="112642"/>
            </a:solidFill>
            <a:prstDash val="solid"/>
          </a:ln>
        </p:spPr>
      </p:sp>
      <p:sp>
        <p:nvSpPr>
          <p:cNvPr id="28" name="Text 23"/>
          <p:cNvSpPr/>
          <p:nvPr/>
        </p:nvSpPr>
        <p:spPr>
          <a:xfrm>
            <a:off x="5440680" y="5394960"/>
            <a:ext cx="402336" cy="109728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OK</a:t>
            </a:r>
            <a:endParaRPr lang="en-US" sz="850" dirty="0"/>
          </a:p>
        </p:txBody>
      </p:sp>
      <p:sp>
        <p:nvSpPr>
          <p:cNvPr id="29" name="Text 24"/>
          <p:cNvSpPr/>
          <p:nvPr/>
        </p:nvSpPr>
        <p:spPr>
          <a:xfrm>
            <a:off x="5989320" y="5303520"/>
            <a:ext cx="4617720" cy="274320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360" b="1" dirty="0">
                <a:solidFill>
                  <a:srgbClr val="112642"/>
                </a:solidFill>
                <a:latin typeface="Georgia" panose="02040502050405020303" pitchFamily="34" charset="0"/>
                <a:ea typeface="Georgia" panose="02040502050405020303" pitchFamily="34" charset="-122"/>
                <a:cs typeface="Georgia" panose="02040502050405020303" pitchFamily="34" charset="-120"/>
              </a:rPr>
              <a:t>Итог: от постановки оборудования на баланс до отчётности, audit log и мониторинга — всё в одной системе.</a:t>
            </a:r>
            <a:endParaRPr lang="en-US" sz="1360" dirty="0"/>
          </a:p>
        </p:txBody>
      </p:sp>
      <p:sp>
        <p:nvSpPr>
          <p:cNvPr id="30" name="Shape 25"/>
          <p:cNvSpPr/>
          <p:nvPr/>
        </p:nvSpPr>
        <p:spPr>
          <a:xfrm>
            <a:off x="530352" y="6126480"/>
            <a:ext cx="11109960" cy="411480"/>
          </a:xfrm>
          <a:prstGeom prst="roundRect">
            <a:avLst>
              <a:gd name="adj" fmla="val 12222"/>
            </a:avLst>
          </a:prstGeom>
          <a:solidFill>
            <a:srgbClr val="FAF7EF"/>
          </a:solidFill>
          <a:ln w="9525">
            <a:solidFill>
              <a:srgbClr val="D9D1C3"/>
            </a:solidFill>
            <a:prstDash val="solid"/>
          </a:ln>
        </p:spPr>
      </p:sp>
      <p:sp>
        <p:nvSpPr>
          <p:cNvPr id="31" name="Shape 26"/>
          <p:cNvSpPr/>
          <p:nvPr/>
        </p:nvSpPr>
        <p:spPr>
          <a:xfrm>
            <a:off x="713232" y="6199632"/>
            <a:ext cx="274320" cy="274320"/>
          </a:xfrm>
          <a:prstGeom prst="roundRect">
            <a:avLst>
              <a:gd name="adj" fmla="val 20000"/>
            </a:avLst>
          </a:prstGeom>
          <a:solidFill>
            <a:srgbClr val="112642"/>
          </a:solidFill>
          <a:ln w="7620">
            <a:solidFill>
              <a:srgbClr val="112642"/>
            </a:solidFill>
            <a:prstDash val="solid"/>
          </a:ln>
        </p:spPr>
      </p:sp>
      <p:sp>
        <p:nvSpPr>
          <p:cNvPr id="32" name="Text 27"/>
          <p:cNvSpPr/>
          <p:nvPr/>
        </p:nvSpPr>
        <p:spPr>
          <a:xfrm>
            <a:off x="713232" y="6272784"/>
            <a:ext cx="274320" cy="109728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✓</a:t>
            </a:r>
            <a:endParaRPr lang="en-US" sz="900" dirty="0"/>
          </a:p>
        </p:txBody>
      </p:sp>
      <p:sp>
        <p:nvSpPr>
          <p:cNvPr id="33" name="Text 28"/>
          <p:cNvSpPr/>
          <p:nvPr/>
        </p:nvSpPr>
        <p:spPr>
          <a:xfrm>
            <a:off x="1078992" y="6245352"/>
            <a:ext cx="10012680" cy="155448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060" dirty="0">
                <a:solidFill>
                  <a:srgbClr val="5B5F5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Готовность к демонстрации: понятный сценарий, реальные страницы, демо-данные, отчёты и наблюдаемость системы.</a:t>
            </a:r>
            <a:endParaRPr lang="en-US" sz="1060" dirty="0"/>
          </a:p>
        </p:txBody>
      </p:sp>
    </p:spTree>
  </p:cSld>
  <p:clrMapOvr>
    <a:masterClrMapping/>
  </p:clrMapOvr>
</p:sld>
</file>

<file path=ppt/tags/tag1.xml><?xml version="1.0" encoding="utf-8"?>
<p:tagLst xmlns:p="http://schemas.openxmlformats.org/presentationml/2006/main">
  <p:tag name="KSO_WM_DIAGRAM_VIRTUALLY_FRAME" val="{&quot;height&quot;:242.85,&quot;left&quot;:43.2,&quot;top&quot;:223.35,&quot;width&quot;:331.2}"/>
</p:tagLst>
</file>

<file path=ppt/tags/tag2.xml><?xml version="1.0" encoding="utf-8"?>
<p:tagLst xmlns:p="http://schemas.openxmlformats.org/presentationml/2006/main">
  <p:tag name="KSO_WM_DIAGRAM_VIRTUALLY_FRAME" val="{&quot;height&quot;:242.85,&quot;left&quot;:43.2,&quot;top&quot;:223.35,&quot;width&quot;:331.2}"/>
</p:tagLst>
</file>

<file path=ppt/tags/tag3.xml><?xml version="1.0" encoding="utf-8"?>
<p:tagLst xmlns:p="http://schemas.openxmlformats.org/presentationml/2006/main">
  <p:tag name="KSO_WM_DIAGRAM_VIRTUALLY_FRAME" val="{&quot;height&quot;:242.85,&quot;left&quot;:43.2,&quot;top&quot;:223.35,&quot;width&quot;:331.2}"/>
</p:tagLst>
</file>

<file path=ppt/tags/tag4.xml><?xml version="1.0" encoding="utf-8"?>
<p:tagLst xmlns:p="http://schemas.openxmlformats.org/presentationml/2006/main">
  <p:tag name="KSO_WM_DIAGRAM_VIRTUALLY_FRAME" val="{&quot;height&quot;:242.85,&quot;left&quot;:43.2,&quot;top&quot;:223.35,&quot;width&quot;:331.2}"/>
</p:tagLst>
</file>

<file path=ppt/tags/tag5.xml><?xml version="1.0" encoding="utf-8"?>
<p:tagLst xmlns:p="http://schemas.openxmlformats.org/presentationml/2006/main">
  <p:tag name="KSO_WM_DIAGRAM_VIRTUALLY_FRAME" val="{&quot;height&quot;:242.85,&quot;left&quot;:43.2,&quot;top&quot;:223.35,&quot;width&quot;:331.2}"/>
</p:tagLst>
</file>

<file path=ppt/tags/tag6.xml><?xml version="1.0" encoding="utf-8"?>
<p:tagLst xmlns:p="http://schemas.openxmlformats.org/presentationml/2006/main">
  <p:tag name="KSO_WM_DIAGRAM_VIRTUALLY_FRAME" val="{&quot;height&quot;:242.85,&quot;left&quot;:43.2,&quot;top&quot;:223.35,&quot;width&quot;:331.2}"/>
</p:tagLst>
</file>

<file path=ppt/tags/tag7.xml><?xml version="1.0" encoding="utf-8"?>
<p:tagLst xmlns:p="http://schemas.openxmlformats.org/presentationml/2006/main">
  <p:tag name="KSO_WM_DIAGRAM_VIRTUALLY_FRAME" val="{&quot;height&quot;:242.85,&quot;left&quot;:43.2,&quot;top&quot;:223.35,&quot;width&quot;:331.2}"/>
</p:tagLst>
</file>

<file path=ppt/tags/tag8.xml><?xml version="1.0" encoding="utf-8"?>
<p:tagLst xmlns:p="http://schemas.openxmlformats.org/presentationml/2006/main">
  <p:tag name="KSO_WM_DIAGRAM_VIRTUALLY_FRAME" val="{&quot;height&quot;:242.85,&quot;left&quot;:43.2,&quot;top&quot;:223.35,&quot;width&quot;:331.2}"/>
</p:tagLst>
</file>

<file path=ppt/tags/tag9.xml><?xml version="1.0" encoding="utf-8"?>
<p:tagLst xmlns:p="http://schemas.openxmlformats.org/presentationml/2006/main">
  <p:tag name="KSO_WM_DIAGRAM_VIRTUALLY_FRAME" val="{&quot;height&quot;:242.85,&quot;left&quot;:43.2,&quot;top&quot;:223.35,&quot;width&quot;:331.2}"/>
</p:tagLst>
</file>

<file path=ppt/tags/tag10.xml><?xml version="1.0" encoding="utf-8"?>
<p:tagLst xmlns:p="http://schemas.openxmlformats.org/presentationml/2006/main">
  <p:tag name="KSO_WM_DIAGRAM_VIRTUALLY_FRAME" val="{&quot;height&quot;:242.85,&quot;left&quot;:43.2,&quot;top&quot;:223.35,&quot;width&quot;:331.2}"/>
</p:tagLst>
</file>

<file path=ppt/tags/tag11.xml><?xml version="1.0" encoding="utf-8"?>
<p:tagLst xmlns:p="http://schemas.openxmlformats.org/presentationml/2006/main">
  <p:tag name="KSO_WM_DIAGRAM_VIRTUALLY_FRAME" val="{&quot;height&quot;:242.85,&quot;left&quot;:43.2,&quot;top&quot;:223.35,&quot;width&quot;:331.2}"/>
</p:tagLst>
</file>

<file path=ppt/tags/tag12.xml><?xml version="1.0" encoding="utf-8"?>
<p:tagLst xmlns:p="http://schemas.openxmlformats.org/presentationml/2006/main">
  <p:tag name="KSO_WM_DIAGRAM_VIRTUALLY_FRAME" val="{&quot;height&quot;:242.85,&quot;left&quot;:43.2,&quot;top&quot;:223.35,&quot;width&quot;:331.2}"/>
</p:tagLst>
</file>

<file path=ppt/tags/tag13.xml><?xml version="1.0" encoding="utf-8"?>
<p:tagLst xmlns:p="http://schemas.openxmlformats.org/presentationml/2006/main">
  <p:tag name="KSO_WM_DIAGRAM_VIRTUALLY_FRAME" val="{&quot;height&quot;:242.85,&quot;left&quot;:43.2,&quot;top&quot;:223.35,&quot;width&quot;:331.2}"/>
</p:tagLst>
</file>

<file path=ppt/tags/tag14.xml><?xml version="1.0" encoding="utf-8"?>
<p:tagLst xmlns:p="http://schemas.openxmlformats.org/presentationml/2006/main">
  <p:tag name="KSO_WM_DIAGRAM_VIRTUALLY_FRAME" val="{&quot;height&quot;:242.85,&quot;left&quot;:43.2,&quot;top&quot;:223.35,&quot;width&quot;:331.2}"/>
</p:tagLst>
</file>

<file path=ppt/tags/tag15.xml><?xml version="1.0" encoding="utf-8"?>
<p:tagLst xmlns:p="http://schemas.openxmlformats.org/presentationml/2006/main">
  <p:tag name="KSO_WM_DIAGRAM_VIRTUALLY_FRAME" val="{&quot;height&quot;:242.85,&quot;left&quot;:43.2,&quot;top&quot;:223.35,&quot;width&quot;:331.2}"/>
</p:tagLst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Georgia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Georgia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6398</Words>
  <Application>WPS Presentation</Application>
  <PresentationFormat>On-screen Show (16:9)</PresentationFormat>
  <Paragraphs>502</Paragraphs>
  <Slides>12</Slides>
  <Notes>12</Notes>
  <HiddenSlides>0</HiddenSlides>
  <MMClips>0</MMClips>
  <ScaleCrop>false</ScaleCrop>
  <HeadingPairs>
    <vt:vector size="6" baseType="variant">
      <vt:variant>
        <vt:lpstr>已用的字体</vt:lpstr>
      </vt:variant>
      <vt:variant>
        <vt:i4>12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12</vt:i4>
      </vt:variant>
    </vt:vector>
  </HeadingPairs>
  <TitlesOfParts>
    <vt:vector size="25" baseType="lpstr">
      <vt:lpstr>Arial</vt:lpstr>
      <vt:lpstr>SimSun</vt:lpstr>
      <vt:lpstr>Wingdings</vt:lpstr>
      <vt:lpstr>Aptos</vt:lpstr>
      <vt:lpstr>Segoe UI</vt:lpstr>
      <vt:lpstr>Aptos</vt:lpstr>
      <vt:lpstr>Aptos</vt:lpstr>
      <vt:lpstr>Georgia</vt:lpstr>
      <vt:lpstr>Georgia</vt:lpstr>
      <vt:lpstr>Georgia</vt:lpstr>
      <vt:lpstr>Microsoft YaHei</vt:lpstr>
      <vt:lpstr>Arial Unicode MS</vt:lpstr>
      <vt:lpstr>Office Theme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>OpenAI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AssetControl — презентация проекта</dc:title>
  <dc:creator>OpenAI</dc:creator>
  <dc:subject>AssetControl project defense deck</dc:subject>
  <cp:lastModifiedBy>Beibars Ileskhan</cp:lastModifiedBy>
  <cp:revision>3</cp:revision>
  <dcterms:created xsi:type="dcterms:W3CDTF">2026-05-27T12:34:00Z</dcterms:created>
  <dcterms:modified xsi:type="dcterms:W3CDTF">2026-06-03T11:56:52Z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AAD8E1D21BC64CC5BA630908D0AC71BA_12</vt:lpwstr>
  </property>
  <property fmtid="{D5CDD505-2E9C-101B-9397-08002B2CF9AE}" pid="3" name="KSOProductBuildVer">
    <vt:lpwstr>1049-12.2.0.23202</vt:lpwstr>
  </property>
</Properties>
</file>